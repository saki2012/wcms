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embeddedFontLst>
    <p:embeddedFont>
      <p:font typeface="Noto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Vaq+rrwuMxMfCTDBhodR3SJJg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NotoSans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NotoSans-italic.fntdata"/><Relationship Id="rId6" Type="http://schemas.openxmlformats.org/officeDocument/2006/relationships/slide" Target="slides/slide2.xml"/><Relationship Id="rId18" Type="http://schemas.openxmlformats.org/officeDocument/2006/relationships/font" Target="fonts/NotoSans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E">
  <p:cSld name="BASE">
    <p:bg>
      <p:bgPr>
        <a:solidFill>
          <a:srgbClr val="F8FAFC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11430000" y="6565392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11430000" y="6565392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621792" y="713232"/>
            <a:ext cx="1965960" cy="384048"/>
          </a:xfrm>
          <a:prstGeom prst="roundRect">
            <a:avLst>
              <a:gd fmla="val 19048" name="adj"/>
            </a:avLst>
          </a:prstGeom>
          <a:solidFill>
            <a:srgbClr val="132238"/>
          </a:solidFill>
          <a:ln cap="flat" cmpd="sng" w="12700">
            <a:solidFill>
              <a:srgbClr val="2E4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621792" y="804672"/>
            <a:ext cx="19659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Noto Sans"/>
                <a:ea typeface="Noto Sans"/>
                <a:cs typeface="Noto Sans"/>
                <a:sym typeface="Noto Sans"/>
              </a:rPr>
              <a:t>WCMS 專案內實例版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40080" y="1353312"/>
            <a:ext cx="6217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Noto San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WCMS 系統介紹</a:t>
            </a:r>
            <a:endParaRPr b="0" i="0" sz="2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76656" y="2084832"/>
            <a:ext cx="5577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Noto Sans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Noto Sans"/>
                <a:ea typeface="Noto Sans"/>
                <a:cs typeface="Noto Sans"/>
                <a:sym typeface="Noto Sans"/>
              </a:rPr>
              <a:t>給新人 RD、客服、業務，以及需要與 RD 協作的 UI / UX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76656" y="2651760"/>
            <a:ext cx="5440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50"/>
              <a:buFont typeface="Noto Sans"/>
              <a:buNone/>
            </a:pPr>
            <a:r>
              <a:rPr b="0" i="0" lang="en-US" sz="1550" u="none" cap="none" strike="noStrike">
                <a:solidFill>
                  <a:srgbClr val="E2E8F0"/>
                </a:solidFill>
                <a:latin typeface="Noto Sans"/>
                <a:ea typeface="Noto Sans"/>
                <a:cs typeface="Noto Sans"/>
                <a:sym typeface="Noto Sans"/>
              </a:rPr>
              <a:t>這份版本會直接對照目前專案中的真實結構，</a:t>
            </a:r>
            <a:endParaRPr b="0" i="0" sz="15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50"/>
              <a:buFont typeface="Noto Sans"/>
              <a:buNone/>
            </a:pPr>
            <a:r>
              <a:rPr b="0" i="0" lang="en-US" sz="1550" u="none" cap="none" strike="noStrike">
                <a:solidFill>
                  <a:srgbClr val="E2E8F0"/>
                </a:solidFill>
                <a:latin typeface="Noto Sans"/>
                <a:ea typeface="Noto Sans"/>
                <a:cs typeface="Noto Sans"/>
                <a:sym typeface="Noto Sans"/>
              </a:rPr>
              <a:t>說明 SysCore / Feature / SpecFeature 的職責、擴充方式，以及 CSR / SSR 的角色。</a:t>
            </a:r>
            <a:endParaRPr b="0" i="0" sz="15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85800" y="3794760"/>
            <a:ext cx="1280160" cy="310896"/>
          </a:xfrm>
          <a:prstGeom prst="roundRect">
            <a:avLst>
              <a:gd fmla="val 23529" name="adj"/>
            </a:avLst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685800" y="3831336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DBEAFE"/>
                </a:solidFill>
                <a:latin typeface="Noto Sans"/>
                <a:ea typeface="Noto Sans"/>
                <a:cs typeface="Noto Sans"/>
                <a:sym typeface="Noto Sans"/>
              </a:rPr>
              <a:t>新人 RD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2057400" y="3794760"/>
            <a:ext cx="1280160" cy="310896"/>
          </a:xfrm>
          <a:prstGeom prst="roundRect">
            <a:avLst>
              <a:gd fmla="val 23529" name="adj"/>
            </a:avLst>
          </a:prstGeom>
          <a:solidFill>
            <a:srgbClr val="133B36"/>
          </a:solidFill>
          <a:ln cap="flat" cmpd="sng" w="12700">
            <a:solidFill>
              <a:srgbClr val="133B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2057400" y="3831336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CCFBF1"/>
                </a:solidFill>
                <a:latin typeface="Noto Sans"/>
                <a:ea typeface="Noto Sans"/>
                <a:cs typeface="Noto Sans"/>
                <a:sym typeface="Noto Sans"/>
              </a:rPr>
              <a:t>客服 / 業務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3429000" y="3794760"/>
            <a:ext cx="1508760" cy="310896"/>
          </a:xfrm>
          <a:prstGeom prst="roundRect">
            <a:avLst>
              <a:gd fmla="val 23529" name="adj"/>
            </a:avLst>
          </a:prstGeom>
          <a:solidFill>
            <a:srgbClr val="4A2B15"/>
          </a:solidFill>
          <a:ln cap="flat" cmpd="sng" w="12700">
            <a:solidFill>
              <a:srgbClr val="4A2B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3429000" y="3831336"/>
            <a:ext cx="1508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FDE68A"/>
                </a:solidFill>
                <a:latin typeface="Noto Sans"/>
                <a:ea typeface="Noto Sans"/>
                <a:cs typeface="Noto Sans"/>
                <a:sym typeface="Noto Sans"/>
              </a:rPr>
              <a:t>UI / UX 協作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6812280" y="914400"/>
            <a:ext cx="4663440" cy="5212080"/>
          </a:xfrm>
          <a:prstGeom prst="roundRect">
            <a:avLst>
              <a:gd fmla="val 1176" name="adj"/>
            </a:avLst>
          </a:prstGeom>
          <a:solidFill>
            <a:srgbClr val="F8FAFC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635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6976872" y="1051560"/>
            <a:ext cx="1417320" cy="310896"/>
          </a:xfrm>
          <a:prstGeom prst="roundRect">
            <a:avLst>
              <a:gd fmla="val 23529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6976872" y="1088136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Noto Sans"/>
                <a:ea typeface="Noto Sans"/>
                <a:cs typeface="Noto Sans"/>
                <a:sym typeface="Noto Sans"/>
              </a:rPr>
              <a:t>核心目的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6976872" y="1426464"/>
            <a:ext cx="43342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Noto Sans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先看懂系統分工，再看細節</a:t>
            </a:r>
            <a:endParaRPr b="0" i="0" sz="1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6976872" y="1773936"/>
            <a:ext cx="4334256" cy="422452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這份簡報不是要讓非技術人員直接寫程式，而是讓大家知道：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需求應該落在哪一層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哪些是共用功能，哪些是客製功能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為什麼過去每個 CASE 都重刻，會讓維護與 UI 一起變難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為什麼現在要往「Feature 先行，Spec 再延伸」收斂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694944" y="6236208"/>
            <a:ext cx="6675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30"/>
              <a:buFont typeface="Noto Sans"/>
              <a:buNone/>
            </a:pPr>
            <a:r>
              <a:rPr b="0" i="0" lang="en-US" sz="930" u="none" cap="none" strike="noStrike">
                <a:solidFill>
                  <a:srgbClr val="94A3B8"/>
                </a:solidFill>
                <a:latin typeface="Noto Sans"/>
                <a:ea typeface="Noto Sans"/>
                <a:cs typeface="Noto Sans"/>
                <a:sym typeface="Noto Sans"/>
              </a:rPr>
              <a:t>版本依據：目前對話附件中的 WCMS_Frontend.zip / WCMS_Backend.zip</a:t>
            </a:r>
            <a:endParaRPr b="0" i="0" sz="9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" name="Google Shape;40;p1"/>
          <p:cNvSpPr txBox="1"/>
          <p:nvPr>
            <p:ph idx="4294967295" type="sldNum"/>
          </p:nvPr>
        </p:nvSpPr>
        <p:spPr>
          <a:xfrm>
            <a:off x="11430000" y="6565392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3341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1. 先用白話理解：WCMS 在做什麼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30352" y="731520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把「網站畫面、資料管理、流程規則、站台客製」拆成可以長期維護的系統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8" name="Google Shape;48;p2"/>
          <p:cNvCxnSpPr/>
          <p:nvPr/>
        </p:nvCxnSpPr>
        <p:spPr>
          <a:xfrm>
            <a:off x="502920" y="1005840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2"/>
          <p:cNvSpPr/>
          <p:nvPr/>
        </p:nvSpPr>
        <p:spPr>
          <a:xfrm>
            <a:off x="594360" y="1261872"/>
            <a:ext cx="3566160" cy="1920240"/>
          </a:xfrm>
          <a:prstGeom prst="roundRect">
            <a:avLst>
              <a:gd fmla="val 2857" name="adj"/>
            </a:avLst>
          </a:prstGeom>
          <a:solidFill>
            <a:srgbClr val="FFFDF7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635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758952" y="1399032"/>
            <a:ext cx="1417320" cy="310896"/>
          </a:xfrm>
          <a:prstGeom prst="roundRect">
            <a:avLst>
              <a:gd fmla="val 23529" name="adj"/>
            </a:avLst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758952" y="1435608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Noto Sans"/>
                <a:ea typeface="Noto Sans"/>
                <a:cs typeface="Noto Sans"/>
                <a:sym typeface="Noto Sans"/>
              </a:rPr>
              <a:t>看得到的外觀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758952" y="1773936"/>
            <a:ext cx="323697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UI / UX 層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758952" y="2121408"/>
            <a:ext cx="3236976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負責使用者看到的版型、動線、資訊階層與操作體驗。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對 WCMS 而言，UI 不只是畫漂亮，而是要設計出「可共用、可擴充、可維護」的版型。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315968" y="1261872"/>
            <a:ext cx="3566160" cy="192024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635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4480560" y="1399032"/>
            <a:ext cx="1417320" cy="310896"/>
          </a:xfrm>
          <a:prstGeom prst="roundRect">
            <a:avLst>
              <a:gd fmla="val 23529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4480560" y="1435608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Noto Sans"/>
                <a:ea typeface="Noto Sans"/>
                <a:cs typeface="Noto Sans"/>
                <a:sym typeface="Noto Sans"/>
              </a:rPr>
              <a:t>畫面與互動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480560" y="1773936"/>
            <a:ext cx="323697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前端層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480560" y="2121408"/>
            <a:ext cx="3236976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把設計稿與資料綁在一起，處理頁面、Loader / Hooks、Adapter、Binding 與 CSR / SSR 呈現。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使用者點到的頁面，多半先從前端進入。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8037576" y="1261872"/>
            <a:ext cx="3566160" cy="192024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635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8202168" y="1399032"/>
            <a:ext cx="1417320" cy="310896"/>
          </a:xfrm>
          <a:prstGeom prst="roundRect">
            <a:avLst>
              <a:gd fmla="val 23529" name="adj"/>
            </a:avLst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8202168" y="1435608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Noto Sans"/>
                <a:ea typeface="Noto Sans"/>
                <a:cs typeface="Noto Sans"/>
                <a:sym typeface="Noto Sans"/>
              </a:rPr>
              <a:t>規則與資料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8202168" y="1773936"/>
            <a:ext cx="323697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後端層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8202168" y="2121408"/>
            <a:ext cx="3236976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負責 API、資料驗證、權限、儲存流程、BeforeUpdate / AfterUpdate 等商業邏輯。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前端不是直接碰資料庫，而是透過後端規則來存取。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658368" y="3703320"/>
            <a:ext cx="10927080" cy="196596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841248" y="3867912"/>
            <a:ext cx="969264" cy="274320"/>
          </a:xfrm>
          <a:prstGeom prst="roundRect">
            <a:avLst>
              <a:gd fmla="val 13333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841248" y="3913632"/>
            <a:ext cx="96926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實際理解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960120" y="4279392"/>
            <a:ext cx="2011680" cy="987552"/>
          </a:xfrm>
          <a:prstGeom prst="roundRect">
            <a:avLst>
              <a:gd fmla="val 4630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1069848" y="4370832"/>
            <a:ext cx="17922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20"/>
              <a:buFont typeface="Noto Sans"/>
              <a:buNone/>
            </a:pPr>
            <a:r>
              <a:rPr b="1" i="0" lang="en-US" sz="132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使用者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1069848" y="4663440"/>
            <a:ext cx="179222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看到網站畫面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點擊、搜尋、瀏覽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3090672" y="4572000"/>
            <a:ext cx="384048" cy="347472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3584448" y="4279392"/>
            <a:ext cx="2176272" cy="987552"/>
          </a:xfrm>
          <a:prstGeom prst="roundRect">
            <a:avLst>
              <a:gd fmla="val 4630" name="adj"/>
            </a:avLst>
          </a:prstGeom>
          <a:solidFill>
            <a:srgbClr val="EFF6FF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3694176" y="4370832"/>
            <a:ext cx="19568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20"/>
              <a:buFont typeface="Noto Sans"/>
              <a:buNone/>
            </a:pPr>
            <a:r>
              <a:rPr b="1" i="0" lang="en-US" sz="132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前端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3694176" y="4663440"/>
            <a:ext cx="195681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頁面組裝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叫用 Loader / Hooks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把資料綁到 DOM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5879592" y="4572000"/>
            <a:ext cx="384048" cy="347472"/>
          </a:xfrm>
          <a:prstGeom prst="chevron">
            <a:avLst>
              <a:gd fmla="val 50000" name="adj"/>
            </a:avLst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6373368" y="4279392"/>
            <a:ext cx="2286000" cy="987552"/>
          </a:xfrm>
          <a:prstGeom prst="roundRect">
            <a:avLst>
              <a:gd fmla="val 4630" name="adj"/>
            </a:avLst>
          </a:prstGeom>
          <a:solidFill>
            <a:srgbClr val="F0FDFA"/>
          </a:solidFill>
          <a:ln cap="flat" cmpd="sng" w="12700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6483096" y="4370832"/>
            <a:ext cx="20665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20"/>
              <a:buFont typeface="Noto Sans"/>
              <a:buNone/>
            </a:pPr>
            <a:r>
              <a:rPr b="1" i="0" lang="en-US" sz="132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後端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6483096" y="4663440"/>
            <a:ext cx="206654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驗證、權限、流程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Save / Update / Query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8778240" y="4572000"/>
            <a:ext cx="384048" cy="347472"/>
          </a:xfrm>
          <a:prstGeom prst="chevron">
            <a:avLst>
              <a:gd fmla="val 50000" name="adj"/>
            </a:avLst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9272016" y="4279392"/>
            <a:ext cx="1828800" cy="987552"/>
          </a:xfrm>
          <a:prstGeom prst="roundRect">
            <a:avLst>
              <a:gd fmla="val 4630" name="adj"/>
            </a:avLst>
          </a:prstGeom>
          <a:solidFill>
            <a:srgbClr val="FFFBEB"/>
          </a:solidFill>
          <a:ln cap="flat" cmpd="sng" w="12700">
            <a:solidFill>
              <a:srgbClr val="FCD3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"/>
          <p:cNvSpPr/>
          <p:nvPr/>
        </p:nvSpPr>
        <p:spPr>
          <a:xfrm>
            <a:off x="9381744" y="4370832"/>
            <a:ext cx="16093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20"/>
              <a:buFont typeface="Noto Sans"/>
              <a:buNone/>
            </a:pPr>
            <a:r>
              <a:rPr b="1" i="0" lang="en-US" sz="132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資料 / 檔案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9381744" y="4663440"/>
            <a:ext cx="160934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DB / Cache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檔案系統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502920" y="6556248"/>
            <a:ext cx="34747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重點：三層不是互相替代，而是各自處理不同責任。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3" name="Google Shape;83;p2"/>
          <p:cNvSpPr txBox="1"/>
          <p:nvPr>
            <p:ph idx="4294967295" type="sldNum"/>
          </p:nvPr>
        </p:nvSpPr>
        <p:spPr>
          <a:xfrm>
            <a:off x="11430000" y="6565392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3341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2. 目前專案結構總覽（依附件實際檔案）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530352" y="731520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這不是抽象示意，而是直接對照現在的前後端資料夾與模組名稱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91" name="Google Shape;91;p3"/>
          <p:cNvCxnSpPr/>
          <p:nvPr/>
        </p:nvCxnSpPr>
        <p:spPr>
          <a:xfrm>
            <a:off x="502920" y="1005840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3"/>
          <p:cNvSpPr/>
          <p:nvPr/>
        </p:nvSpPr>
        <p:spPr>
          <a:xfrm>
            <a:off x="621792" y="1234440"/>
            <a:ext cx="5486400" cy="4526280"/>
          </a:xfrm>
          <a:prstGeom prst="roundRect">
            <a:avLst>
              <a:gd fmla="val 1212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635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786384" y="1371600"/>
            <a:ext cx="1417320" cy="310896"/>
          </a:xfrm>
          <a:prstGeom prst="roundRect">
            <a:avLst>
              <a:gd fmla="val 23529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786384" y="1408176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Noto Sans"/>
                <a:ea typeface="Noto Sans"/>
                <a:cs typeface="Noto Sans"/>
                <a:sym typeface="Noto Sans"/>
              </a:rPr>
              <a:t>Frontend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786384" y="1746504"/>
            <a:ext cx="51572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前端：React + Vite + SSR / Hydration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786384" y="2093976"/>
            <a:ext cx="5157216" cy="353872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實際主體目錄：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src/SysCore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src/Features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src/SpecFetures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src/SSR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src/types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Noto Sans"/>
              <a:buNone/>
            </a:pPr>
            <a:r>
              <a:t/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其中前端的 Spec 資料夾實際名稱目前是「SpecFetures」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（拼字現況如此，新人找檔案時要先知道）。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Noto Sans"/>
              <a:buNone/>
            </a:pPr>
            <a:r>
              <a:t/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目前可見的 Spec case：_default、1810、1816、1817、1818、1819。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914400" y="4498848"/>
            <a:ext cx="4901184" cy="347472"/>
          </a:xfrm>
          <a:prstGeom prst="roundRect">
            <a:avLst>
              <a:gd fmla="val 10526" name="adj"/>
            </a:avLst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987552" y="4572000"/>
            <a:ext cx="4754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vite.config.ts：SpecFeature -&gt; ./src/SpecFetures/{VITE_SPEC_CODE}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6291072" y="1234440"/>
            <a:ext cx="5285232" cy="4526280"/>
          </a:xfrm>
          <a:prstGeom prst="roundRect">
            <a:avLst>
              <a:gd fmla="val 1212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635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6455664" y="1371600"/>
            <a:ext cx="1417320" cy="310896"/>
          </a:xfrm>
          <a:prstGeom prst="roundRect">
            <a:avLst>
              <a:gd fmla="val 23529" name="adj"/>
            </a:avLst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6455664" y="1408176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Noto Sans"/>
                <a:ea typeface="Noto Sans"/>
                <a:cs typeface="Noto Sans"/>
                <a:sym typeface="Noto Sans"/>
              </a:rPr>
              <a:t>Backend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6455664" y="1746504"/>
            <a:ext cx="49560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後端：ASP.NET Core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6455664" y="2093976"/>
            <a:ext cx="4956048" cy="353872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實際主體目錄：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SysCore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Features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SpecFeatures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Noto Sans"/>
              <a:buNone/>
            </a:pPr>
            <a:r>
              <a:t/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SysCore 放控制器基底、BizService、Repository、Middleware、I18n、FileManagement。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Noto Sans"/>
              <a:buNone/>
            </a:pPr>
            <a:r>
              <a:t/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Features 放標準功能，例如 Announcement、Gallery、PageManagement。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Noto Sans"/>
              <a:buNone/>
            </a:pPr>
            <a:r>
              <a:t/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SpecFeatures 放各 case 的專屬模組，例如 T1810、Spec1816、Spec1817、Spec1819。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6629400" y="4498848"/>
            <a:ext cx="4626864" cy="347472"/>
          </a:xfrm>
          <a:prstGeom prst="roundRect">
            <a:avLst>
              <a:gd fmla="val 10526" name="adj"/>
            </a:avLst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6702552" y="4572000"/>
            <a:ext cx="4480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SysCore/ApiDataController.cs / SysCore/BizService.cs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731520" y="5897880"/>
            <a:ext cx="969264" cy="274320"/>
          </a:xfrm>
          <a:prstGeom prst="roundRect">
            <a:avLst>
              <a:gd fmla="val 13333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731520" y="5943600"/>
            <a:ext cx="96926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你可以怎麼記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1783080" y="5870448"/>
            <a:ext cx="93268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60"/>
              <a:buFont typeface="Noto Sans"/>
              <a:buNone/>
            </a:pPr>
            <a:r>
              <a:rPr b="0" i="0" lang="en-US" sz="116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前端偏向「頁面怎麼出來」；後端偏向「資料怎麼被正確管理」。</a:t>
            </a:r>
            <a:endParaRPr b="0" i="0" sz="116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60"/>
              <a:buFont typeface="Noto Sans"/>
              <a:buNone/>
            </a:pPr>
            <a:r>
              <a:rPr b="0" i="0" lang="en-US" sz="116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SysCore 是地基，Feature 是標準模組，SpecFeature 是客製化與橫向擴充。</a:t>
            </a:r>
            <a:endParaRPr b="0" i="0" sz="116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502920" y="6556248"/>
            <a:ext cx="34747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目前專案已不是單純 CSR；已包含 SSR 入口與各種 case 對應。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0" name="Google Shape;110;p3"/>
          <p:cNvSpPr txBox="1"/>
          <p:nvPr>
            <p:ph idx="4294967295" type="sldNum"/>
          </p:nvPr>
        </p:nvSpPr>
        <p:spPr>
          <a:xfrm>
            <a:off x="11430000" y="6565392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3341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3. SysCore / Feature / SpecFeature：各自到底負責什麼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30352" y="731520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這一頁是全份簡報最重要的基礎概念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18" name="Google Shape;118;p4"/>
          <p:cNvCxnSpPr/>
          <p:nvPr/>
        </p:nvCxnSpPr>
        <p:spPr>
          <a:xfrm>
            <a:off x="502920" y="1005840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4"/>
          <p:cNvSpPr/>
          <p:nvPr/>
        </p:nvSpPr>
        <p:spPr>
          <a:xfrm>
            <a:off x="566928" y="1234440"/>
            <a:ext cx="3611880" cy="4480560"/>
          </a:xfrm>
          <a:prstGeom prst="roundRect">
            <a:avLst>
              <a:gd fmla="val 1519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635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731520" y="1371600"/>
            <a:ext cx="1417320" cy="310896"/>
          </a:xfrm>
          <a:prstGeom prst="roundRect">
            <a:avLst>
              <a:gd fmla="val 23529" name="adj"/>
            </a:avLst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731520" y="1408176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共用核心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731520" y="1746504"/>
            <a:ext cx="32826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SysCore：系統地基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731520" y="2093976"/>
            <a:ext cx="3282696" cy="349300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80"/>
              <a:buFont typeface="Noto Sans"/>
              <a:buNone/>
            </a:pPr>
            <a:r>
              <a:rPr b="0" i="0" lang="en-US" sz="10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用途：放所有 case 都可能需要的共用能力。</a:t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"/>
              <a:buNone/>
            </a:pPr>
            <a:r>
              <a:t/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80"/>
              <a:buFont typeface="Noto Sans"/>
              <a:buNone/>
            </a:pPr>
            <a:r>
              <a:rPr b="0" i="0" lang="en-US" sz="10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前端實例：</a:t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80"/>
              <a:buFont typeface="Noto Sans"/>
              <a:buNone/>
            </a:pPr>
            <a:r>
              <a:rPr b="0" i="0" lang="en-US" sz="10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RequireAuth.tsx</a:t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80"/>
              <a:buFont typeface="Noto Sans"/>
              <a:buNone/>
            </a:pPr>
            <a:r>
              <a:rPr b="0" i="0" lang="en-US" sz="10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HeaderMeta_Comp.tsx</a:t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80"/>
              <a:buFont typeface="Noto Sans"/>
              <a:buNone/>
            </a:pPr>
            <a:r>
              <a:rPr b="0" i="0" lang="en-US" sz="10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File/useResolveInternalIds.ts</a:t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80"/>
              <a:buFont typeface="Noto Sans"/>
              <a:buNone/>
            </a:pPr>
            <a:r>
              <a:rPr b="0" i="0" lang="en-US" sz="10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FormField / i18n / Route 共用工具</a:t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"/>
              <a:buNone/>
            </a:pPr>
            <a:r>
              <a:t/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80"/>
              <a:buFont typeface="Noto Sans"/>
              <a:buNone/>
            </a:pPr>
            <a:r>
              <a:rPr b="0" i="0" lang="en-US" sz="10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後端實例：</a:t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80"/>
              <a:buFont typeface="Noto Sans"/>
              <a:buNone/>
            </a:pPr>
            <a:r>
              <a:rPr b="0" i="0" lang="en-US" sz="10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ApiDataController.cs</a:t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80"/>
              <a:buFont typeface="Noto Sans"/>
              <a:buNone/>
            </a:pPr>
            <a:r>
              <a:rPr b="0" i="0" lang="en-US" sz="10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BizService.cs</a:t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80"/>
              <a:buFont typeface="Noto Sans"/>
              <a:buNone/>
            </a:pPr>
            <a:r>
              <a:rPr b="0" i="0" lang="en-US" sz="10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ErrorHandling / OperateLogMiddleware</a:t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80"/>
              <a:buFont typeface="Noto Sans"/>
              <a:buNone/>
            </a:pPr>
            <a:r>
              <a:rPr b="0" i="0" lang="en-US" sz="10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FileManagement_API / Biz</a:t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4288536" y="1234440"/>
            <a:ext cx="3611880" cy="4480560"/>
          </a:xfrm>
          <a:prstGeom prst="roundRect">
            <a:avLst>
              <a:gd fmla="val 1519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635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4453128" y="1371600"/>
            <a:ext cx="1417320" cy="310896"/>
          </a:xfrm>
          <a:prstGeom prst="roundRect">
            <a:avLst>
              <a:gd fmla="val 23529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4453128" y="1408176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Noto Sans"/>
                <a:ea typeface="Noto Sans"/>
                <a:cs typeface="Noto Sans"/>
                <a:sym typeface="Noto Sans"/>
              </a:rPr>
              <a:t>標準能力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453128" y="1746504"/>
            <a:ext cx="32826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Feature：標準功能模組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4453128" y="2093976"/>
            <a:ext cx="3282696" cy="349300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80"/>
              <a:buFont typeface="Noto Sans"/>
              <a:buNone/>
            </a:pPr>
            <a:r>
              <a:rPr b="0" i="0" lang="en-US" sz="10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用途：把「大多數站台都會需要」的功能做成可重用模組。</a:t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"/>
              <a:buNone/>
            </a:pPr>
            <a:r>
              <a:t/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80"/>
              <a:buFont typeface="Noto Sans"/>
              <a:buNone/>
            </a:pPr>
            <a:r>
              <a:rPr b="0" i="0" lang="en-US" sz="10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前端實例：</a:t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80"/>
              <a:buFont typeface="Noto Sans"/>
              <a:buNone/>
            </a:pPr>
            <a:r>
              <a:rPr b="0" i="0" lang="en-US" sz="10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AnnouncementList.tsx</a:t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80"/>
              <a:buFont typeface="Noto Sans"/>
              <a:buNone/>
            </a:pPr>
            <a:r>
              <a:rPr b="0" i="0" lang="en-US" sz="10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FileArchiveList.tsx</a:t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80"/>
              <a:buFont typeface="Noto Sans"/>
              <a:buNone/>
            </a:pPr>
            <a:r>
              <a:rPr b="0" i="0" lang="en-US" sz="10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GalleryList_Comp.tsx</a:t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80"/>
              <a:buFont typeface="Noto Sans"/>
              <a:buNone/>
            </a:pPr>
            <a:r>
              <a:rPr b="0" i="0" lang="en-US" sz="10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PageManagementForm_Comp.tsx</a:t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80"/>
              <a:buFont typeface="Noto Sans"/>
              <a:buNone/>
            </a:pPr>
            <a:r>
              <a:rPr b="0" i="0" lang="en-US" sz="10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WebResourceList.tsx</a:t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"/>
              <a:buNone/>
            </a:pPr>
            <a:r>
              <a:t/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80"/>
              <a:buFont typeface="Noto Sans"/>
              <a:buNone/>
            </a:pPr>
            <a:r>
              <a:rPr b="0" i="0" lang="en-US" sz="10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後端實例：</a:t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80"/>
              <a:buFont typeface="Noto Sans"/>
              <a:buNone/>
            </a:pPr>
            <a:r>
              <a:rPr b="0" i="0" lang="en-US" sz="10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Announcement_Api/Biz/DTO/Model</a:t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80"/>
              <a:buFont typeface="Noto Sans"/>
              <a:buNone/>
            </a:pPr>
            <a:r>
              <a:rPr b="0" i="0" lang="en-US" sz="10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Gallery_Api/Biz/DTO/Model</a:t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8010144" y="1234440"/>
            <a:ext cx="3611880" cy="4480560"/>
          </a:xfrm>
          <a:prstGeom prst="roundRect">
            <a:avLst>
              <a:gd fmla="val 1519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635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8174736" y="1371600"/>
            <a:ext cx="1417320" cy="310896"/>
          </a:xfrm>
          <a:prstGeom prst="roundRect">
            <a:avLst>
              <a:gd fmla="val 23529" name="adj"/>
            </a:avLst>
          </a:prstGeom>
          <a:solidFill>
            <a:srgbClr val="FFE4E6"/>
          </a:solidFill>
          <a:ln cap="flat" cmpd="sng" w="12700">
            <a:solidFill>
              <a:srgbClr val="FFE4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8174736" y="1408176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E11D48"/>
                </a:solidFill>
                <a:latin typeface="Noto Sans"/>
                <a:ea typeface="Noto Sans"/>
                <a:cs typeface="Noto Sans"/>
                <a:sym typeface="Noto Sans"/>
              </a:rPr>
              <a:t>客製與擴充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8174736" y="1746504"/>
            <a:ext cx="32826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SpecFeature：客製功能與延伸點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8174736" y="2093976"/>
            <a:ext cx="3282696" cy="349300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80"/>
              <a:buFont typeface="Noto Sans"/>
              <a:buNone/>
            </a:pPr>
            <a:r>
              <a:rPr b="0" i="0" lang="en-US" sz="10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用途：處理某個 case 才有的需求，</a:t>
            </a:r>
            <a:r>
              <a:rPr b="1" i="0" lang="en-US" sz="10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或是在不破壞 Feature 的前提下做二次擴充</a:t>
            </a:r>
            <a:r>
              <a:rPr b="0" i="0" lang="en-US" sz="10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。</a:t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"/>
              <a:buNone/>
            </a:pPr>
            <a:r>
              <a:t/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80"/>
              <a:buFont typeface="Noto Sans"/>
              <a:buNone/>
            </a:pPr>
            <a:r>
              <a:rPr b="0" i="0" lang="en-US" sz="10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前端實例：</a:t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80"/>
              <a:buFont typeface="Noto Sans"/>
              <a:buNone/>
            </a:pPr>
            <a:r>
              <a:rPr b="0" i="0" lang="en-US" sz="10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1810 / SpecUSR、SpecResearch</a:t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80"/>
              <a:buFont typeface="Noto Sans"/>
              <a:buNone/>
            </a:pPr>
            <a:r>
              <a:rPr b="0" i="0" lang="en-US" sz="10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1817 / SpecMusical</a:t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80"/>
              <a:buFont typeface="Noto Sans"/>
              <a:buNone/>
            </a:pPr>
            <a:r>
              <a:rPr b="0" i="0" lang="en-US" sz="10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1819 / SpecJournal</a:t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"/>
              <a:buNone/>
            </a:pPr>
            <a:r>
              <a:t/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80"/>
              <a:buFont typeface="Noto Sans"/>
              <a:buNone/>
            </a:pPr>
            <a:r>
              <a:rPr b="0" i="0" lang="en-US" sz="10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後端實例：</a:t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80"/>
              <a:buFont typeface="Noto Sans"/>
              <a:buNone/>
            </a:pPr>
            <a:r>
              <a:rPr b="0" i="0" lang="en-US" sz="10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T1810/SpecUSR_Biz.cs</a:t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80"/>
              <a:buFont typeface="Noto Sans"/>
              <a:buNone/>
            </a:pPr>
            <a:r>
              <a:rPr b="0" i="0" lang="en-US" sz="10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Spec1817/SpecMusical_Biz.cs</a:t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80"/>
              <a:buFont typeface="Noto Sans"/>
              <a:buNone/>
            </a:pPr>
            <a:r>
              <a:rPr b="0" i="0" lang="en-US" sz="10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Spec1819/SpecJournal_Biz.cs</a:t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502926" y="6556250"/>
            <a:ext cx="4184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判斷原則：共用就進 SysCore；通用功能進 Feature；特定 case 差異放 SpecFeature。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5" name="Google Shape;135;p4"/>
          <p:cNvSpPr txBox="1"/>
          <p:nvPr>
            <p:ph idx="4294967295" type="sldNum"/>
          </p:nvPr>
        </p:nvSpPr>
        <p:spPr>
          <a:xfrm>
            <a:off x="11430000" y="6565392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3341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/>
          <p:nvPr/>
        </p:nvSpPr>
        <p:spPr>
          <a:xfrm>
            <a:off x="502926" y="320049"/>
            <a:ext cx="8992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4. Feature 的實際案例：不是抽象概念，而是現在就在專案裡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530352" y="731520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Feature 是未來要收斂的主幹，Spec 不應該取代它，而是建立在它之上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43" name="Google Shape;143;p5"/>
          <p:cNvCxnSpPr/>
          <p:nvPr/>
        </p:nvCxnSpPr>
        <p:spPr>
          <a:xfrm>
            <a:off x="502920" y="1005840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5"/>
          <p:cNvSpPr/>
          <p:nvPr/>
        </p:nvSpPr>
        <p:spPr>
          <a:xfrm>
            <a:off x="621792" y="1261872"/>
            <a:ext cx="3657600" cy="4480560"/>
          </a:xfrm>
          <a:prstGeom prst="roundRect">
            <a:avLst>
              <a:gd fmla="val 150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635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786384" y="1399032"/>
            <a:ext cx="1417320" cy="310896"/>
          </a:xfrm>
          <a:prstGeom prst="roundRect">
            <a:avLst>
              <a:gd fmla="val 23529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786384" y="1435608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Noto Sans"/>
                <a:ea typeface="Noto Sans"/>
                <a:cs typeface="Noto Sans"/>
                <a:sym typeface="Noto Sans"/>
              </a:rPr>
              <a:t>Feature / Client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786384" y="1773936"/>
            <a:ext cx="33284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前台 Feature 基礎模組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786384" y="2121408"/>
            <a:ext cx="3328416" cy="349300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目前在前端 Feature 的 Client WebManagement 可看到 5 個典型模組：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Announcement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FileArchive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Gallery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PageManagement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WebResource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這些就是「一般站台也需要」的標準內容模組。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前台很多頁面，其實都應優先思考能不能先回到這一層。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932688" y="4956048"/>
            <a:ext cx="3017520" cy="347472"/>
          </a:xfrm>
          <a:prstGeom prst="roundRect">
            <a:avLst>
              <a:gd fmla="val 10526" name="adj"/>
            </a:avLst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1005840" y="5029200"/>
            <a:ext cx="287121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src/Features/Pages/Client/BizFunc/WebManagement/...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4462272" y="1261872"/>
            <a:ext cx="3657600" cy="4480560"/>
          </a:xfrm>
          <a:prstGeom prst="roundRect">
            <a:avLst>
              <a:gd fmla="val 150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635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4626864" y="1399032"/>
            <a:ext cx="1417320" cy="310896"/>
          </a:xfrm>
          <a:prstGeom prst="roundRect">
            <a:avLst>
              <a:gd fmla="val 23529" name="adj"/>
            </a:avLst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4626864" y="1435608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Noto Sans"/>
                <a:ea typeface="Noto Sans"/>
                <a:cs typeface="Noto Sans"/>
                <a:sym typeface="Noto Sans"/>
              </a:rPr>
              <a:t>Feature / Backend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4626864" y="1773936"/>
            <a:ext cx="33284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後台 Feature 基礎模組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4626864" y="2121408"/>
            <a:ext cx="3328416" cy="349300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後端 Features/SiteEdit 也對應同一批標準模組：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Announcement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Banner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Category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FileArchive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Gallery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PageManagement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Tag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WebResource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代表前後端其實都在往「標準模組」這條主線建設。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4773168" y="4956048"/>
            <a:ext cx="3017520" cy="347472"/>
          </a:xfrm>
          <a:prstGeom prst="roundRect">
            <a:avLst>
              <a:gd fmla="val 10526" name="adj"/>
            </a:avLst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4846320" y="5029200"/>
            <a:ext cx="287121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Features/SiteEdit/...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8302752" y="1261872"/>
            <a:ext cx="3273552" cy="4480560"/>
          </a:xfrm>
          <a:prstGeom prst="roundRect">
            <a:avLst>
              <a:gd fmla="val 1676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635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8467344" y="1399032"/>
            <a:ext cx="1417320" cy="310896"/>
          </a:xfrm>
          <a:prstGeom prst="roundRect">
            <a:avLst>
              <a:gd fmla="val 23529" name="adj"/>
            </a:avLst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8467344" y="1435608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Noto Sans"/>
                <a:ea typeface="Noto Sans"/>
                <a:cs typeface="Noto Sans"/>
                <a:sym typeface="Noto Sans"/>
              </a:rPr>
              <a:t>UI / UX 影響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8467344" y="1773936"/>
            <a:ext cx="29443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為什麼這對 UI / UX 很重要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8467344" y="2121408"/>
            <a:ext cx="2944368" cy="349300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如果 UI 每個 case 都從頭重畫、重切、重命名，Feature 就很難形成。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結果會變成：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DOM 不一致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SSR / AA 維護成本暴增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客製案例越多，越難收斂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因此未來 UI 也要跟著 Feature 思維走：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先定義共用版型，再定義客製差異。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502920" y="6556248"/>
            <a:ext cx="34747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你提到的 Header Menu 逐步收斂回 Feature，也屬於同一個方向。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4" name="Google Shape;164;p5"/>
          <p:cNvSpPr txBox="1"/>
          <p:nvPr>
            <p:ph idx="4294967295" type="sldNum"/>
          </p:nvPr>
        </p:nvSpPr>
        <p:spPr>
          <a:xfrm>
            <a:off x="11430000" y="6565392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3341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5. SpecFeature 的實際案例：目前有哪些 case 在運作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530352" y="731520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Spec 不是只有換皮，而是有些 case 真的帶進了自己的資料模型與功能模組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72" name="Google Shape;172;p6"/>
          <p:cNvCxnSpPr/>
          <p:nvPr/>
        </p:nvCxnSpPr>
        <p:spPr>
          <a:xfrm>
            <a:off x="502920" y="1005840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" name="Google Shape;173;p6"/>
          <p:cNvSpPr/>
          <p:nvPr/>
        </p:nvSpPr>
        <p:spPr>
          <a:xfrm>
            <a:off x="658375" y="1234450"/>
            <a:ext cx="3471000" cy="2011800"/>
          </a:xfrm>
          <a:prstGeom prst="roundRect">
            <a:avLst>
              <a:gd fmla="val 272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635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866638" y="1371610"/>
            <a:ext cx="1793400" cy="310800"/>
          </a:xfrm>
          <a:prstGeom prst="roundRect">
            <a:avLst>
              <a:gd fmla="val 23529" name="adj"/>
            </a:avLst>
          </a:prstGeom>
          <a:solidFill>
            <a:srgbClr val="FFE4E6"/>
          </a:solidFill>
          <a:ln cap="flat" cmpd="sng" w="12700">
            <a:solidFill>
              <a:srgbClr val="FFE4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866638" y="1408186"/>
            <a:ext cx="1793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E11D48"/>
                </a:solidFill>
                <a:latin typeface="Noto Sans"/>
                <a:ea typeface="Noto Sans"/>
                <a:cs typeface="Noto Sans"/>
                <a:sym typeface="Noto Sans"/>
              </a:rPr>
              <a:t>客製內容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866638" y="1746514"/>
            <a:ext cx="305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Noto Sans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T1810</a:t>
            </a:r>
            <a:r>
              <a:rPr b="1" lang="en-US" sz="1300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、Spec1817、Spec1819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866638" y="2093986"/>
            <a:ext cx="3054600" cy="10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前端：SpecUSR、SpecResearch、SpecCategory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後端：T1810/SiteEdit/SpecUSR、SpecResearch、SpecCategory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屬於非常典型的「站台客製功能」。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4395534" y="1234450"/>
            <a:ext cx="3471000" cy="2011800"/>
          </a:xfrm>
          <a:prstGeom prst="roundRect">
            <a:avLst>
              <a:gd fmla="val 272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635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4603796" y="1371610"/>
            <a:ext cx="1793400" cy="310800"/>
          </a:xfrm>
          <a:prstGeom prst="roundRect">
            <a:avLst>
              <a:gd fmla="val 23529" name="adj"/>
            </a:avLst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4603796" y="1408186"/>
            <a:ext cx="1793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Noto Sans"/>
                <a:ea typeface="Noto Sans"/>
                <a:cs typeface="Noto Sans"/>
                <a:sym typeface="Noto Sans"/>
              </a:rPr>
              <a:t>客製首頁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4603804" y="1746509"/>
            <a:ext cx="3054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前端首頁區塊很多：BannerNews、NewsData、QuickLinksData…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後端有 SpecCalendar、SpecOpenScheduleRule。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代表不只前台視覺，連規則也有客製。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8132692" y="1234450"/>
            <a:ext cx="3471000" cy="2011800"/>
          </a:xfrm>
          <a:prstGeom prst="roundRect">
            <a:avLst>
              <a:gd fmla="val 272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635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8340955" y="1371610"/>
            <a:ext cx="1793400" cy="310800"/>
          </a:xfrm>
          <a:prstGeom prst="roundRect">
            <a:avLst>
              <a:gd fmla="val 23529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8340955" y="1408186"/>
            <a:ext cx="1793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Noto Sans"/>
                <a:ea typeface="Noto Sans"/>
                <a:cs typeface="Noto Sans"/>
                <a:sym typeface="Noto Sans"/>
              </a:rPr>
              <a:t>功能 + 局部擴充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8340955" y="1746514"/>
            <a:ext cx="305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Noto Sans"/>
              <a:buNone/>
            </a:pPr>
            <a:r>
              <a:rPr b="1" lang="en-US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Spc1816</a:t>
            </a:r>
            <a:endParaRPr b="0" i="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8340955" y="2093986"/>
            <a:ext cx="3054600" cy="10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Noto Sans"/>
              <a:buNone/>
            </a:pPr>
            <a:r>
              <a:rPr lang="en-US" sz="105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前端首頁需要"開館時間"，從Feature的行事曆追加擴充的功能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658368" y="3611880"/>
            <a:ext cx="5440680" cy="196596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635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822960" y="3749040"/>
            <a:ext cx="1417320" cy="310896"/>
          </a:xfrm>
          <a:prstGeom prst="roundRect">
            <a:avLst>
              <a:gd fmla="val 23529" name="adj"/>
            </a:avLst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822960" y="3785616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核心觀念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822960" y="4123944"/>
            <a:ext cx="51114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Spec 的存在很合理，但不能取代 Feature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822960" y="4471416"/>
            <a:ext cx="5111496" cy="97840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當某個站台有自己的內容型態、欄位、流程、首頁區塊時，放進 Spec 很正常。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真正的問題不是有沒有 Spec，而是 Spec 裡到底是「必要客製」還是「因為以前沒規劃共用，所以每次重做」。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Noto Sans"/>
              <a:buNone/>
            </a:pPr>
            <a:r>
              <a:t/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這也是後續 UI / UX 與 RD 要一起面對的關鍵。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6327648" y="3611880"/>
            <a:ext cx="5276088" cy="196596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635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6492240" y="3749040"/>
            <a:ext cx="1417320" cy="310896"/>
          </a:xfrm>
          <a:prstGeom prst="roundRect">
            <a:avLst>
              <a:gd fmla="val 23529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6492240" y="3785616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Noto Sans"/>
                <a:ea typeface="Noto Sans"/>
                <a:cs typeface="Noto Sans"/>
                <a:sym typeface="Noto Sans"/>
              </a:rPr>
              <a:t>收斂方向已存在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6492240" y="4123944"/>
            <a:ext cx="494690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一個很實際的專案訊號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6492240" y="4471416"/>
            <a:ext cx="4946904" cy="97840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前端 Features/Assets 內已經有一個備註檔，意思大意是：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「這裡的資源會慢慢整理，從 Spec 的 _default 轉移過來。」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Noto Sans"/>
              <a:buNone/>
            </a:pPr>
            <a:r>
              <a:t/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這表示專案本身就已經在往「從 Spec 回收共用資產，慢慢收斂到 Feature」前進。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502920" y="6556248"/>
            <a:ext cx="34747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所以簡報不是要否定客製，而是要說明：客製應該有規則地存在。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8" name="Google Shape;198;p6"/>
          <p:cNvSpPr txBox="1"/>
          <p:nvPr>
            <p:ph idx="4294967295" type="sldNum"/>
          </p:nvPr>
        </p:nvSpPr>
        <p:spPr>
          <a:xfrm>
            <a:off x="11430000" y="6565392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3341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"/>
          <p:cNvSpPr/>
          <p:nvPr/>
        </p:nvSpPr>
        <p:spPr>
          <a:xfrm>
            <a:off x="502926" y="320051"/>
            <a:ext cx="9663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6. Spec 的兩種橫向擴充方式（這一點請特別讓 UI / UX 理解）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530352" y="731520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你提到的重點：Spec 並不是只有一種做法，而是至少有兩條路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06" name="Google Shape;206;p7"/>
          <p:cNvCxnSpPr/>
          <p:nvPr/>
        </p:nvCxnSpPr>
        <p:spPr>
          <a:xfrm>
            <a:off x="502920" y="1005840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" name="Google Shape;207;p7"/>
          <p:cNvSpPr/>
          <p:nvPr/>
        </p:nvSpPr>
        <p:spPr>
          <a:xfrm>
            <a:off x="566928" y="1261872"/>
            <a:ext cx="5440680" cy="4480560"/>
          </a:xfrm>
          <a:prstGeom prst="roundRect">
            <a:avLst>
              <a:gd fmla="val 122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635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731520" y="1399032"/>
            <a:ext cx="1417320" cy="310896"/>
          </a:xfrm>
          <a:prstGeom prst="roundRect">
            <a:avLst>
              <a:gd fmla="val 23529" name="adj"/>
            </a:avLst>
          </a:prstGeom>
          <a:solidFill>
            <a:srgbClr val="FFE4E6"/>
          </a:solidFill>
          <a:ln cap="flat" cmpd="sng" w="12700">
            <a:solidFill>
              <a:srgbClr val="FFE4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731520" y="1435608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E11D48"/>
                </a:solidFill>
                <a:latin typeface="Noto Sans"/>
                <a:ea typeface="Noto Sans"/>
                <a:cs typeface="Noto Sans"/>
                <a:sym typeface="Noto Sans"/>
              </a:rPr>
              <a:t>Spec 自成一個模組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731520" y="1773936"/>
            <a:ext cx="51114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模式 A：純客製功能，直接建立自己的 Spec 模組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731520" y="2121408"/>
            <a:ext cx="5111496" cy="349300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90"/>
              <a:buFont typeface="Noto Sans"/>
              <a:buNone/>
            </a:pPr>
            <a:r>
              <a:rPr b="0" i="0" lang="en-US" sz="109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適合情境：這個功能本來就不是標準 Feature 的一部分。</a:t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0"/>
              <a:buFont typeface="Noto Sans"/>
              <a:buNone/>
            </a:pPr>
            <a:r>
              <a:t/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90"/>
              <a:buFont typeface="Noto Sans"/>
              <a:buNone/>
            </a:pPr>
            <a:r>
              <a:rPr b="0" i="0" lang="en-US" sz="109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前端實例：</a:t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90"/>
              <a:buFont typeface="Noto Sans"/>
              <a:buNone/>
            </a:pPr>
            <a:r>
              <a:rPr b="0" i="0" lang="en-US" sz="109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src/SpecFetures/1819/Pages/Client/BizFunc/SpecModule/SpecJournal/...</a:t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90"/>
              <a:buFont typeface="Noto Sans"/>
              <a:buNone/>
            </a:pPr>
            <a:r>
              <a:rPr b="0" i="0" lang="en-US" sz="109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src/SpecFetures/1817/Pages/Client/BizFunc/SpecModule/SpecMusical/...</a:t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0"/>
              <a:buFont typeface="Noto Sans"/>
              <a:buNone/>
            </a:pPr>
            <a:r>
              <a:t/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90"/>
              <a:buFont typeface="Noto Sans"/>
              <a:buNone/>
            </a:pPr>
            <a:r>
              <a:rPr b="0" i="0" lang="en-US" sz="109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後端實例：</a:t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90"/>
              <a:buFont typeface="Noto Sans"/>
              <a:buNone/>
            </a:pPr>
            <a:r>
              <a:rPr b="0" i="0" lang="en-US" sz="109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SpecFeatures/Spec1819/SiteEdit/SpecJournal/...</a:t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90"/>
              <a:buFont typeface="Noto Sans"/>
              <a:buNone/>
            </a:pPr>
            <a:r>
              <a:rPr b="0" i="0" lang="en-US" sz="109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SpecFeatures/Spec1817/SiteEdit/SpecMusical/...</a:t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0"/>
              <a:buFont typeface="Noto Sans"/>
              <a:buNone/>
            </a:pPr>
            <a:r>
              <a:t/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90"/>
              <a:buFont typeface="Noto Sans"/>
              <a:buNone/>
            </a:pPr>
            <a:r>
              <a:rPr b="0" i="0" lang="en-US" sz="109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意思：它不是改既有公告/相簿，而是整個模組本來就是 case 專屬。</a:t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6190488" y="1261872"/>
            <a:ext cx="5440680" cy="4480560"/>
          </a:xfrm>
          <a:prstGeom prst="roundRect">
            <a:avLst>
              <a:gd fmla="val 122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635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6355074" y="1399025"/>
            <a:ext cx="1629000" cy="310800"/>
          </a:xfrm>
          <a:prstGeom prst="roundRect">
            <a:avLst>
              <a:gd fmla="val 23529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6355074" y="1435599"/>
            <a:ext cx="1629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Noto Sans"/>
                <a:ea typeface="Noto Sans"/>
                <a:cs typeface="Noto Sans"/>
                <a:sym typeface="Noto Sans"/>
              </a:rPr>
              <a:t>Feature 開口，Spec 插入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6355080" y="1773936"/>
            <a:ext cx="5111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模式 B：Feature 先提供延伸點，Spec 再做二次擴充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6355080" y="2121408"/>
            <a:ext cx="5111496" cy="349300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90"/>
              <a:buFont typeface="Noto Sans"/>
              <a:buNone/>
            </a:pPr>
            <a:r>
              <a:rPr b="0" i="0" lang="en-US" sz="109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適合情境：主體其實還是標準模組，只是某些 case 要插入自己的差異。</a:t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0"/>
              <a:buFont typeface="Noto Sans"/>
              <a:buNone/>
            </a:pPr>
            <a:r>
              <a:t/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90"/>
              <a:buFont typeface="Noto Sans"/>
              <a:buNone/>
            </a:pPr>
            <a:r>
              <a:rPr b="0" i="0" lang="en-US" sz="109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前端實例：</a:t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90"/>
              <a:buFont typeface="Noto Sans"/>
              <a:buNone/>
            </a:pPr>
            <a:r>
              <a:rPr b="0" i="0" lang="en-US" sz="109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ClientComponentResolver.ts：先有 Feature Base，再允許 Spec override / fallback</a:t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90"/>
              <a:buFont typeface="Noto Sans"/>
              <a:buNone/>
            </a:pPr>
            <a:r>
              <a:rPr b="0" i="0" lang="en-US" sz="109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SiteMenu Module_Comp.tsx：透過 useModuleSettingTabSpecExtension() 注入 Spec 選項</a:t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0"/>
              <a:buFont typeface="Noto Sans"/>
              <a:buNone/>
            </a:pPr>
            <a:r>
              <a:t/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90"/>
              <a:buFont typeface="Noto Sans"/>
              <a:buNone/>
            </a:pPr>
            <a:r>
              <a:rPr b="0" i="0" lang="en-US" sz="109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後端實例：</a:t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90"/>
              <a:buFont typeface="Noto Sans"/>
              <a:buNone/>
            </a:pPr>
            <a:r>
              <a:rPr b="0" i="0" lang="en-US" sz="109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TagBiz 先定義 protected virtual SpecCheckIsUsed(...)</a:t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90"/>
              <a:buFont typeface="Noto Sans"/>
              <a:buNone/>
            </a:pPr>
            <a:r>
              <a:rPr b="0" i="0" lang="en-US" sz="109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T1810 的 SpecTag_Biz 再 override 加入 SpecUSR / SpecResearch 的判斷</a:t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90"/>
              <a:buFont typeface="Noto Sans"/>
              <a:buNone/>
            </a:pPr>
            <a:r>
              <a:rPr b="0" i="0" lang="en-US" sz="109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BizService&lt;T&gt; 也提供 BeforeUpdate / AfterUpdate 這類可覆寫鉤子</a:t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502926" y="6556250"/>
            <a:ext cx="42789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這就是「不要每個 CASE 重刻」的技術根據：先設計延伸點，再讓客製掛進去。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8" name="Google Shape;218;p7"/>
          <p:cNvSpPr txBox="1"/>
          <p:nvPr>
            <p:ph idx="4294967295" type="sldNum"/>
          </p:nvPr>
        </p:nvSpPr>
        <p:spPr>
          <a:xfrm>
            <a:off x="11430000" y="6565392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3341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7. 為什麼這件事對 UI / UX 特別重要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530352" y="731520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UI 如果不配合分層思維，最後不只 RD 累，連設計本身也會越做越難維護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26" name="Google Shape;226;p8"/>
          <p:cNvCxnSpPr/>
          <p:nvPr/>
        </p:nvCxnSpPr>
        <p:spPr>
          <a:xfrm>
            <a:off x="502920" y="1005840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p8"/>
          <p:cNvSpPr/>
          <p:nvPr/>
        </p:nvSpPr>
        <p:spPr>
          <a:xfrm>
            <a:off x="713232" y="1508760"/>
            <a:ext cx="2423160" cy="1051560"/>
          </a:xfrm>
          <a:prstGeom prst="roundRect">
            <a:avLst>
              <a:gd fmla="val 4348" name="adj"/>
            </a:avLst>
          </a:prstGeom>
          <a:solidFill>
            <a:srgbClr val="FFF7ED"/>
          </a:solidFill>
          <a:ln cap="flat" cmpd="sng" w="12700">
            <a:solidFill>
              <a:srgbClr val="FDBA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822960" y="1600200"/>
            <a:ext cx="22037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20"/>
              <a:buFont typeface="Noto Sans"/>
              <a:buNone/>
            </a:pPr>
            <a:r>
              <a:rPr b="1" i="0" lang="en-US" sz="132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舊作法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822960" y="1892808"/>
            <a:ext cx="220370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每個 CASE 重切版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每個 CASE 重刻 DOM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3246120" y="1856232"/>
            <a:ext cx="365760" cy="347472"/>
          </a:xfrm>
          <a:prstGeom prst="chevron">
            <a:avLst>
              <a:gd fmla="val 50000" name="adj"/>
            </a:avLst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3703320" y="1508760"/>
            <a:ext cx="2606040" cy="1051560"/>
          </a:xfrm>
          <a:prstGeom prst="roundRect">
            <a:avLst>
              <a:gd fmla="val 4348" name="adj"/>
            </a:avLst>
          </a:prstGeom>
          <a:solidFill>
            <a:srgbClr val="FFF1F2"/>
          </a:solidFill>
          <a:ln cap="flat" cmpd="sng" w="12700">
            <a:solidFill>
              <a:srgbClr val="FDA4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3813048" y="1600200"/>
            <a:ext cx="23865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20"/>
              <a:buFont typeface="Noto Sans"/>
              <a:buNone/>
            </a:pPr>
            <a:r>
              <a:rPr b="1" i="0" lang="en-US" sz="132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直接後果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3813048" y="1892808"/>
            <a:ext cx="238658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同功能長相不同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共用元件難形成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6419088" y="1856232"/>
            <a:ext cx="365760" cy="347472"/>
          </a:xfrm>
          <a:prstGeom prst="chevron">
            <a:avLst>
              <a:gd fmla="val 50000" name="adj"/>
            </a:avLst>
          </a:prstGeom>
          <a:solidFill>
            <a:srgbClr val="E11D48"/>
          </a:solidFill>
          <a:ln cap="flat" cmpd="sng" w="12700">
            <a:solidFill>
              <a:srgbClr val="E11D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6876288" y="1508760"/>
            <a:ext cx="2468880" cy="1051560"/>
          </a:xfrm>
          <a:prstGeom prst="roundRect">
            <a:avLst>
              <a:gd fmla="val 4348" name="adj"/>
            </a:avLst>
          </a:prstGeom>
          <a:solidFill>
            <a:srgbClr val="EFF6FF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6986016" y="1600200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20"/>
              <a:buFont typeface="Noto Sans"/>
              <a:buNone/>
            </a:pPr>
            <a:r>
              <a:rPr b="1" i="0" lang="en-US" sz="132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技術成本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6986016" y="1892808"/>
            <a:ext cx="224942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AA / SSR / CSS 全都重維護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小改一處要補很多 case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9464040" y="1856232"/>
            <a:ext cx="365760" cy="347472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9921240" y="1508760"/>
            <a:ext cx="1572768" cy="1051560"/>
          </a:xfrm>
          <a:prstGeom prst="roundRect">
            <a:avLst>
              <a:gd fmla="val 4348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10030968" y="1600200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20"/>
              <a:buFont typeface="Noto Sans"/>
              <a:buNone/>
            </a:pPr>
            <a:r>
              <a:rPr b="1" i="0" lang="en-US" sz="132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結果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10030968" y="1892808"/>
            <a:ext cx="135331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重工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風險高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713232" y="2971800"/>
            <a:ext cx="5349240" cy="2377440"/>
          </a:xfrm>
          <a:prstGeom prst="roundRect">
            <a:avLst>
              <a:gd fmla="val 2308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635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"/>
          <p:cNvSpPr/>
          <p:nvPr/>
        </p:nvSpPr>
        <p:spPr>
          <a:xfrm>
            <a:off x="877824" y="3108960"/>
            <a:ext cx="1417320" cy="310896"/>
          </a:xfrm>
          <a:prstGeom prst="roundRect">
            <a:avLst>
              <a:gd fmla="val 23529" name="adj"/>
            </a:avLst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877824" y="3145536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Noto Sans"/>
                <a:ea typeface="Noto Sans"/>
                <a:cs typeface="Noto Sans"/>
                <a:sym typeface="Noto Sans"/>
              </a:rPr>
              <a:t>設計輸出也要模組化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877824" y="3483864"/>
            <a:ext cx="50200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未來 UI / UX 應該交付什麼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877824" y="3831336"/>
            <a:ext cx="5020056" cy="138988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10"/>
              <a:buFont typeface="Noto Sans"/>
              <a:buNone/>
            </a:pPr>
            <a:r>
              <a:rPr b="0" i="0" lang="en-US" sz="111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建議從「畫一張頁面」升級成「定義一組可擴充版型」：</a:t>
            </a:r>
            <a:endParaRPr b="0" i="0" sz="11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Noto Sans"/>
              <a:buNone/>
            </a:pPr>
            <a:r>
              <a:t/>
            </a:r>
            <a:endParaRPr b="0" i="0" sz="11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10"/>
              <a:buFont typeface="Noto Sans"/>
              <a:buNone/>
            </a:pPr>
            <a:r>
              <a:rPr b="0" i="0" lang="en-US" sz="111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哪些區塊是 Feature 共用骨架</a:t>
            </a:r>
            <a:endParaRPr b="0" i="0" sz="11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10"/>
              <a:buFont typeface="Noto Sans"/>
              <a:buNone/>
            </a:pPr>
            <a:r>
              <a:rPr b="0" i="0" lang="en-US" sz="111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哪些欄位 / 區塊是可配置變體</a:t>
            </a:r>
            <a:endParaRPr b="0" i="0" sz="11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10"/>
              <a:buFont typeface="Noto Sans"/>
              <a:buNone/>
            </a:pPr>
            <a:r>
              <a:rPr b="0" i="0" lang="en-US" sz="111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哪些差異必須保留給 Spec extension</a:t>
            </a:r>
            <a:endParaRPr b="0" i="0" sz="11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10"/>
              <a:buFont typeface="Noto Sans"/>
              <a:buNone/>
            </a:pPr>
            <a:r>
              <a:rPr b="0" i="0" lang="en-US" sz="111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AA / SSR 首屏可見內容，哪些必須是共通規則</a:t>
            </a:r>
            <a:endParaRPr b="0" i="0" sz="11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Noto Sans"/>
              <a:buNone/>
            </a:pPr>
            <a:r>
              <a:t/>
            </a:r>
            <a:endParaRPr b="0" i="0" sz="11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10"/>
              <a:buFont typeface="Noto Sans"/>
              <a:buNone/>
            </a:pPr>
            <a:r>
              <a:rPr b="0" i="0" lang="en-US" sz="111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這樣 RD 與 UI 才是在建立系統，而不是只完成單次交付。</a:t>
            </a:r>
            <a:endParaRPr b="0" i="0" sz="11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6263640" y="2971800"/>
            <a:ext cx="5257800" cy="2377440"/>
          </a:xfrm>
          <a:prstGeom prst="roundRect">
            <a:avLst>
              <a:gd fmla="val 2308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635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6428232" y="3108960"/>
            <a:ext cx="1417320" cy="310896"/>
          </a:xfrm>
          <a:prstGeom prst="roundRect">
            <a:avLst>
              <a:gd fmla="val 23529" name="adj"/>
            </a:avLst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6428232" y="3145536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Noto Sans"/>
                <a:ea typeface="Noto Sans"/>
                <a:cs typeface="Noto Sans"/>
                <a:sym typeface="Noto Sans"/>
              </a:rPr>
              <a:t>設計決策問題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6428232" y="3483864"/>
            <a:ext cx="49286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一句話總結給 UI / UX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6428232" y="3831336"/>
            <a:ext cx="4928616" cy="138988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10"/>
              <a:buFont typeface="Noto Sans"/>
              <a:buNone/>
            </a:pPr>
            <a:r>
              <a:rPr b="0" i="0" lang="en-US" sz="111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不是不能客製，而是要先分清楚：</a:t>
            </a:r>
            <a:endParaRPr b="0" i="0" sz="11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Noto Sans"/>
              <a:buNone/>
            </a:pPr>
            <a:r>
              <a:t/>
            </a:r>
            <a:endParaRPr b="0" i="0" sz="11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10"/>
              <a:buFont typeface="Noto Sans"/>
              <a:buNone/>
            </a:pPr>
            <a:r>
              <a:rPr b="0" i="0" lang="en-US" sz="111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1. 這次差異是「站台獨有功能」？</a:t>
            </a:r>
            <a:endParaRPr b="0" i="0" sz="11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10"/>
              <a:buFont typeface="Noto Sans"/>
              <a:buNone/>
            </a:pPr>
            <a:r>
              <a:rPr b="0" i="0" lang="en-US" sz="111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2. 還是其實只是「同一個 Feature 的不同版型 / 配置」？</a:t>
            </a:r>
            <a:endParaRPr b="0" i="0" sz="11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Noto Sans"/>
              <a:buNone/>
            </a:pPr>
            <a:r>
              <a:t/>
            </a:r>
            <a:endParaRPr b="0" i="0" sz="11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10"/>
              <a:buFont typeface="Noto Sans"/>
              <a:buNone/>
            </a:pPr>
            <a:r>
              <a:rPr b="0" i="0" lang="en-US" sz="111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如果第二種也一直重刻，之後 Header、Menu、列表、卡片、內頁就永遠很難回到 Feature 主線。</a:t>
            </a:r>
            <a:endParaRPr b="0" i="0" sz="11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502920" y="6556248"/>
            <a:ext cx="34747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對 UI 來說，最重要的不是少畫，而是畫得能重用、能演進。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3" name="Google Shape;253;p8"/>
          <p:cNvSpPr txBox="1"/>
          <p:nvPr>
            <p:ph idx="4294967295" type="sldNum"/>
          </p:nvPr>
        </p:nvSpPr>
        <p:spPr>
          <a:xfrm>
            <a:off x="11430000" y="6565392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3341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9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8. 前端抽象流程：用 Announcement 實例來看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530352" y="731520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這一套流程也正在被拿去收斂其他前台與後台模組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61" name="Google Shape;261;p9"/>
          <p:cNvCxnSpPr/>
          <p:nvPr/>
        </p:nvCxnSpPr>
        <p:spPr>
          <a:xfrm>
            <a:off x="502920" y="1005840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2" name="Google Shape;262;p9"/>
          <p:cNvSpPr/>
          <p:nvPr/>
        </p:nvSpPr>
        <p:spPr>
          <a:xfrm>
            <a:off x="566928" y="1874520"/>
            <a:ext cx="1874520" cy="13716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676656" y="1965960"/>
            <a:ext cx="1655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20"/>
              <a:buFont typeface="Noto Sans"/>
              <a:buNone/>
            </a:pPr>
            <a:r>
              <a:rPr b="1" i="0" lang="en-US" sz="132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1. DOM / 畫面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676656" y="2258568"/>
            <a:ext cx="165506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AnnouncementList.tsx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負責頁面結構與呈現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2578608" y="2359152"/>
            <a:ext cx="347472" cy="347472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3035808" y="1874520"/>
            <a:ext cx="2331720" cy="1371600"/>
          </a:xfrm>
          <a:prstGeom prst="roundRect">
            <a:avLst>
              <a:gd fmla="val 3333" name="adj"/>
            </a:avLst>
          </a:prstGeom>
          <a:solidFill>
            <a:srgbClr val="EFF6FF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3145536" y="1965960"/>
            <a:ext cx="21122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20"/>
              <a:buFont typeface="Noto Sans"/>
              <a:buNone/>
            </a:pPr>
            <a:r>
              <a:rPr b="1" i="0" lang="en-US" sz="132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2. 取資料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3145536" y="2258568"/>
            <a:ext cx="211226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AnnouncementList_Loader.ts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整合 Announcement / Category / Tag / SiteViewCount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5486400" y="2359152"/>
            <a:ext cx="347472" cy="347472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5943600" y="1874520"/>
            <a:ext cx="1920240" cy="1371600"/>
          </a:xfrm>
          <a:prstGeom prst="roundRect">
            <a:avLst>
              <a:gd fmla="val 3333" name="adj"/>
            </a:avLst>
          </a:prstGeom>
          <a:solidFill>
            <a:srgbClr val="F0FDFA"/>
          </a:solidFill>
          <a:ln cap="flat" cmpd="sng" w="12700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6053328" y="1965960"/>
            <a:ext cx="17007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20"/>
              <a:buFont typeface="Noto Sans"/>
              <a:buNone/>
            </a:pPr>
            <a:r>
              <a:rPr b="1" i="0" lang="en-US" sz="132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3. Adapter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6053328" y="2258568"/>
            <a:ext cx="170078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Announcement_Api.ts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AnnouncementAdapter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8001000" y="2359152"/>
            <a:ext cx="347472" cy="347472"/>
          </a:xfrm>
          <a:prstGeom prst="chevron">
            <a:avLst>
              <a:gd fmla="val 50000" name="adj"/>
            </a:avLst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9"/>
          <p:cNvSpPr/>
          <p:nvPr/>
        </p:nvSpPr>
        <p:spPr>
          <a:xfrm>
            <a:off x="8458200" y="1874520"/>
            <a:ext cx="1783080" cy="1371600"/>
          </a:xfrm>
          <a:prstGeom prst="roundRect">
            <a:avLst>
              <a:gd fmla="val 3333" name="adj"/>
            </a:avLst>
          </a:prstGeom>
          <a:solidFill>
            <a:srgbClr val="FFFBEB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8567928" y="1965960"/>
            <a:ext cx="1563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20"/>
              <a:buFont typeface="Noto Sans"/>
              <a:buNone/>
            </a:pPr>
            <a:r>
              <a:rPr b="1" i="0" lang="en-US" sz="132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4. API Service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8567928" y="2258568"/>
            <a:ext cx="156362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ApiDataAdapter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ApiDataService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10378440" y="2359152"/>
            <a:ext cx="347472" cy="347472"/>
          </a:xfrm>
          <a:prstGeom prst="chevron">
            <a:avLst>
              <a:gd fmla="val 50000" name="adj"/>
            </a:avLst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10835640" y="1874520"/>
            <a:ext cx="822960" cy="1371600"/>
          </a:xfrm>
          <a:prstGeom prst="roundRect">
            <a:avLst>
              <a:gd fmla="val 5556" name="adj"/>
            </a:avLst>
          </a:prstGeom>
          <a:solidFill>
            <a:srgbClr val="FFF1F2"/>
          </a:solidFill>
          <a:ln cap="flat" cmpd="sng" w="12700">
            <a:solidFill>
              <a:srgbClr val="FDA4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10945368" y="1965960"/>
            <a:ext cx="6035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20"/>
              <a:buFont typeface="Noto Sans"/>
              <a:buNone/>
            </a:pPr>
            <a:r>
              <a:rPr b="1" i="0" lang="en-US" sz="132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5. 後端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10945368" y="2258568"/>
            <a:ext cx="60350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API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749808" y="3794760"/>
            <a:ext cx="5175504" cy="1828800"/>
          </a:xfrm>
          <a:prstGeom prst="roundRect">
            <a:avLst>
              <a:gd fmla="val 300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635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9"/>
          <p:cNvSpPr/>
          <p:nvPr/>
        </p:nvSpPr>
        <p:spPr>
          <a:xfrm>
            <a:off x="914400" y="3931920"/>
            <a:ext cx="1417320" cy="310896"/>
          </a:xfrm>
          <a:prstGeom prst="roundRect">
            <a:avLst>
              <a:gd fmla="val 23529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9"/>
          <p:cNvSpPr/>
          <p:nvPr/>
        </p:nvSpPr>
        <p:spPr>
          <a:xfrm>
            <a:off x="914400" y="3968496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Noto Sans"/>
                <a:ea typeface="Noto Sans"/>
                <a:cs typeface="Noto Sans"/>
                <a:sym typeface="Noto Sans"/>
              </a:rPr>
              <a:t>前端架構價值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914400" y="4306824"/>
            <a:ext cx="4846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這個流程的好處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914400" y="4654296"/>
            <a:ext cx="4846320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DOM 與資料取得分離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Loader 可支援 SSR 首屏資料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Adapter 讓 API 呼叫方式統一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同一個模組可以在 CSR / SSR 間共用資料邏輯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6144768" y="3794760"/>
            <a:ext cx="5321808" cy="1828800"/>
          </a:xfrm>
          <a:prstGeom prst="roundRect">
            <a:avLst>
              <a:gd fmla="val 300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635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6309360" y="3931920"/>
            <a:ext cx="1417320" cy="310896"/>
          </a:xfrm>
          <a:prstGeom prst="roundRect">
            <a:avLst>
              <a:gd fmla="val 23529" name="adj"/>
            </a:avLst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9"/>
          <p:cNvSpPr/>
          <p:nvPr/>
        </p:nvSpPr>
        <p:spPr>
          <a:xfrm>
            <a:off x="6309360" y="3968496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Noto Sans"/>
                <a:ea typeface="Noto Sans"/>
                <a:cs typeface="Noto Sans"/>
                <a:sym typeface="Noto Sans"/>
              </a:rPr>
              <a:t>對設計協作的意義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6309360" y="4306824"/>
            <a:ext cx="49926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為什麼這也能幫 UI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6309360" y="4654296"/>
            <a:ext cx="4992624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因為 UI 若能維持 DOM 主體穩定，RD 就能把資料層、SSR、AA、Hydration 逐步收斂。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Noto Sans"/>
              <a:buNone/>
            </a:pPr>
            <a:r>
              <a:t/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如果 DOM 每個 case 都大改，這一條資料鏈就很難共享。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841248" y="5870448"/>
            <a:ext cx="4956048" cy="347472"/>
          </a:xfrm>
          <a:prstGeom prst="roundRect">
            <a:avLst>
              <a:gd fmla="val 10526" name="adj"/>
            </a:avLst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914400" y="5943600"/>
            <a:ext cx="48097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src/Features/Pages/Client/BizFunc/WebManagement/Announcement/...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6236208" y="5870448"/>
            <a:ext cx="5120640" cy="347472"/>
          </a:xfrm>
          <a:prstGeom prst="roundRect">
            <a:avLst>
              <a:gd fmla="val 10526" name="adj"/>
            </a:avLst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9"/>
          <p:cNvSpPr/>
          <p:nvPr/>
        </p:nvSpPr>
        <p:spPr>
          <a:xfrm>
            <a:off x="6309360" y="5943600"/>
            <a:ext cx="497433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src/Features/Hooks/BizFunc/WebManagement/Announcement_Api.ts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502925" y="6556250"/>
            <a:ext cx="3768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同樣的 pattern 也可在 Gallery / PageManagement / WebResource 看到。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6" name="Google Shape;296;p9"/>
          <p:cNvSpPr txBox="1"/>
          <p:nvPr>
            <p:ph idx="4294967295" type="sldNum"/>
          </p:nvPr>
        </p:nvSpPr>
        <p:spPr>
          <a:xfrm>
            <a:off x="11430000" y="6565392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3341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0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9. 後端抽象流程：Save 為什麼不只是「存資料」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530352" y="731520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以 SysCore/BizService 與各模組 Biz 為中心來理解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04" name="Google Shape;304;p10"/>
          <p:cNvCxnSpPr/>
          <p:nvPr/>
        </p:nvCxnSpPr>
        <p:spPr>
          <a:xfrm>
            <a:off x="502920" y="1005840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5" name="Google Shape;305;p10"/>
          <p:cNvSpPr/>
          <p:nvPr/>
        </p:nvSpPr>
        <p:spPr>
          <a:xfrm>
            <a:off x="548640" y="1828800"/>
            <a:ext cx="1828800" cy="1463040"/>
          </a:xfrm>
          <a:prstGeom prst="roundRect">
            <a:avLst>
              <a:gd fmla="val 312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0"/>
          <p:cNvSpPr/>
          <p:nvPr/>
        </p:nvSpPr>
        <p:spPr>
          <a:xfrm>
            <a:off x="658368" y="1920240"/>
            <a:ext cx="16093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20"/>
              <a:buFont typeface="Noto Sans"/>
              <a:buNone/>
            </a:pPr>
            <a:r>
              <a:rPr b="1" i="0" lang="en-US" sz="132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1. API 入口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658368" y="2212848"/>
            <a:ext cx="160934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ApiDataController.cs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接收 Query / Save / Update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2514600" y="2359152"/>
            <a:ext cx="347472" cy="347472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0"/>
          <p:cNvSpPr/>
          <p:nvPr/>
        </p:nvSpPr>
        <p:spPr>
          <a:xfrm>
            <a:off x="2971800" y="1828800"/>
            <a:ext cx="2057400" cy="1463040"/>
          </a:xfrm>
          <a:prstGeom prst="roundRect">
            <a:avLst>
              <a:gd fmla="val 3125" name="adj"/>
            </a:avLst>
          </a:prstGeom>
          <a:solidFill>
            <a:srgbClr val="EFF6FF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0"/>
          <p:cNvSpPr/>
          <p:nvPr/>
        </p:nvSpPr>
        <p:spPr>
          <a:xfrm>
            <a:off x="3081528" y="1920240"/>
            <a:ext cx="18379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20"/>
              <a:buFont typeface="Noto Sans"/>
              <a:buNone/>
            </a:pPr>
            <a:r>
              <a:rPr b="1" i="0" lang="en-US" sz="132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2. Biz 模組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3081528" y="2212848"/>
            <a:ext cx="183794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Announcement_Biz.cs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SpecUSR_Biz.cs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SpecJournal_Biz.cs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5166360" y="2359152"/>
            <a:ext cx="347472" cy="347472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0"/>
          <p:cNvSpPr/>
          <p:nvPr/>
        </p:nvSpPr>
        <p:spPr>
          <a:xfrm>
            <a:off x="5623560" y="1828800"/>
            <a:ext cx="2697480" cy="1463040"/>
          </a:xfrm>
          <a:prstGeom prst="roundRect">
            <a:avLst>
              <a:gd fmla="val 3125" name="adj"/>
            </a:avLst>
          </a:prstGeom>
          <a:solidFill>
            <a:srgbClr val="F0FDFA"/>
          </a:solidFill>
          <a:ln cap="flat" cmpd="sng" w="12700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0"/>
          <p:cNvSpPr/>
          <p:nvPr/>
        </p:nvSpPr>
        <p:spPr>
          <a:xfrm>
            <a:off x="5733288" y="1920240"/>
            <a:ext cx="24780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20"/>
              <a:buFont typeface="Noto Sans"/>
              <a:buNone/>
            </a:pPr>
            <a:r>
              <a:rPr b="1" i="0" lang="en-US" sz="132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3. BizService&lt;T&gt;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5733288" y="2212848"/>
            <a:ext cx="247802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BizCreateSetAsync / BizUpdateSetAsync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BeforeUpdate → DoUpdate → AfterUpdate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8458200" y="2359152"/>
            <a:ext cx="347472" cy="347472"/>
          </a:xfrm>
          <a:prstGeom prst="chevron">
            <a:avLst>
              <a:gd fmla="val 50000" name="adj"/>
            </a:avLst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"/>
          <p:cNvSpPr/>
          <p:nvPr/>
        </p:nvSpPr>
        <p:spPr>
          <a:xfrm>
            <a:off x="8915400" y="1828800"/>
            <a:ext cx="1691640" cy="1463040"/>
          </a:xfrm>
          <a:prstGeom prst="roundRect">
            <a:avLst>
              <a:gd fmla="val 3125" name="adj"/>
            </a:avLst>
          </a:prstGeom>
          <a:solidFill>
            <a:srgbClr val="FFFBEB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0"/>
          <p:cNvSpPr/>
          <p:nvPr/>
        </p:nvSpPr>
        <p:spPr>
          <a:xfrm>
            <a:off x="9025128" y="1920240"/>
            <a:ext cx="1472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20"/>
              <a:buFont typeface="Noto Sans"/>
              <a:buNone/>
            </a:pPr>
            <a:r>
              <a:rPr b="1" i="0" lang="en-US" sz="132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4. Repo / DB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9025128" y="2212848"/>
            <a:ext cx="147218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Repository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ApplicationDbContext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10744200" y="2359152"/>
            <a:ext cx="347472" cy="347472"/>
          </a:xfrm>
          <a:prstGeom prst="chevron">
            <a:avLst>
              <a:gd fmla="val 50000" name="adj"/>
            </a:avLst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0"/>
          <p:cNvSpPr/>
          <p:nvPr/>
        </p:nvSpPr>
        <p:spPr>
          <a:xfrm>
            <a:off x="11201400" y="1828800"/>
            <a:ext cx="713232" cy="1463040"/>
          </a:xfrm>
          <a:prstGeom prst="roundRect">
            <a:avLst>
              <a:gd fmla="val 6410" name="adj"/>
            </a:avLst>
          </a:prstGeom>
          <a:solidFill>
            <a:srgbClr val="FFF1F2"/>
          </a:solidFill>
          <a:ln cap="flat" cmpd="sng" w="12700">
            <a:solidFill>
              <a:srgbClr val="FDA4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0"/>
          <p:cNvSpPr/>
          <p:nvPr/>
        </p:nvSpPr>
        <p:spPr>
          <a:xfrm>
            <a:off x="11311128" y="1920240"/>
            <a:ext cx="4937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20"/>
              <a:buFont typeface="Noto Sans"/>
              <a:buNone/>
            </a:pPr>
            <a:r>
              <a:rPr b="1" i="0" lang="en-US" sz="132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5. 回傳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11311128" y="2212848"/>
            <a:ext cx="49377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結果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+訊息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749808" y="3767328"/>
            <a:ext cx="5029200" cy="1874520"/>
          </a:xfrm>
          <a:prstGeom prst="roundRect">
            <a:avLst>
              <a:gd fmla="val 292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635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0"/>
          <p:cNvSpPr/>
          <p:nvPr/>
        </p:nvSpPr>
        <p:spPr>
          <a:xfrm>
            <a:off x="914400" y="3904488"/>
            <a:ext cx="1417320" cy="310896"/>
          </a:xfrm>
          <a:prstGeom prst="roundRect">
            <a:avLst>
              <a:gd fmla="val 23529" name="adj"/>
            </a:avLst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0"/>
          <p:cNvSpPr/>
          <p:nvPr/>
        </p:nvSpPr>
        <p:spPr>
          <a:xfrm>
            <a:off x="914400" y="3941064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Noto Sans"/>
                <a:ea typeface="Noto Sans"/>
                <a:cs typeface="Noto Sans"/>
                <a:sym typeface="Noto Sans"/>
              </a:rPr>
              <a:t>後端擴充點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914400" y="4279392"/>
            <a:ext cx="47000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目前專案裡看得到的實際鉤子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914400" y="4626864"/>
            <a:ext cx="4700016" cy="8869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10"/>
              <a:buFont typeface="Noto Sans"/>
              <a:buNone/>
            </a:pPr>
            <a:r>
              <a:rPr b="0" i="0" lang="en-US" sz="111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BizService&lt;T&gt; 內已有：</a:t>
            </a:r>
            <a:endParaRPr b="0" i="0" sz="11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10"/>
              <a:buFont typeface="Noto Sans"/>
              <a:buNone/>
            </a:pPr>
            <a:r>
              <a:rPr b="0" i="0" lang="en-US" sz="111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BeforeUpdate(TSet set, FuncAction act)</a:t>
            </a:r>
            <a:endParaRPr b="0" i="0" sz="11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10"/>
              <a:buFont typeface="Noto Sans"/>
              <a:buNone/>
            </a:pPr>
            <a:r>
              <a:rPr b="0" i="0" lang="en-US" sz="111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AfterUpdate(TSet? oldSet, TSet? newSet, FuncAction act, TransStatus status)</a:t>
            </a:r>
            <a:endParaRPr b="0" i="0" sz="11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10"/>
              <a:buFont typeface="Noto Sans"/>
              <a:buNone/>
            </a:pPr>
            <a:r>
              <a:rPr b="0" i="0" lang="en-US" sz="111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AfterSaveChanges(FuncAction action)</a:t>
            </a:r>
            <a:endParaRPr b="0" i="0" sz="11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Noto Sans"/>
              <a:buNone/>
            </a:pPr>
            <a:r>
              <a:t/>
            </a:r>
            <a:endParaRPr b="0" i="0" sz="11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10"/>
              <a:buFont typeface="Noto Sans"/>
              <a:buNone/>
            </a:pPr>
            <a:r>
              <a:rPr b="0" i="0" lang="en-US" sz="111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這些就是模組做驗證、補資料、同步、紀錄、特殊規則的插入點。</a:t>
            </a:r>
            <a:endParaRPr b="0" i="0" sz="11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6053328" y="3767328"/>
            <a:ext cx="5321808" cy="1874520"/>
          </a:xfrm>
          <a:prstGeom prst="roundRect">
            <a:avLst>
              <a:gd fmla="val 292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635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0"/>
          <p:cNvSpPr/>
          <p:nvPr/>
        </p:nvSpPr>
        <p:spPr>
          <a:xfrm>
            <a:off x="6217920" y="3904488"/>
            <a:ext cx="1417320" cy="310896"/>
          </a:xfrm>
          <a:prstGeom prst="roundRect">
            <a:avLst>
              <a:gd fmla="val 23529" name="adj"/>
            </a:avLst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6217920" y="3941064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Noto Sans"/>
                <a:ea typeface="Noto Sans"/>
                <a:cs typeface="Noto Sans"/>
                <a:sym typeface="Noto Sans"/>
              </a:rPr>
              <a:t>需求討論重點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6217920" y="4279392"/>
            <a:ext cx="49926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對非技術角色最重要的理解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6217920" y="4626864"/>
            <a:ext cx="4992624" cy="8869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10"/>
              <a:buFont typeface="Noto Sans"/>
              <a:buNone/>
            </a:pPr>
            <a:r>
              <a:rPr b="0" i="0" lang="en-US" sz="111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同樣叫「儲存」，不同模組其實可以在 Save 前後做很多事情。</a:t>
            </a:r>
            <a:endParaRPr b="0" i="0" sz="11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Noto Sans"/>
              <a:buNone/>
            </a:pPr>
            <a:r>
              <a:t/>
            </a:r>
            <a:endParaRPr b="0" i="0" sz="11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10"/>
              <a:buFont typeface="Noto Sans"/>
              <a:buNone/>
            </a:pPr>
            <a:r>
              <a:rPr b="0" i="0" lang="en-US" sz="111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因此需求討論不能只說「按下存檔就好」，而要確認：</a:t>
            </a:r>
            <a:endParaRPr b="0" i="0" sz="11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10"/>
              <a:buFont typeface="Noto Sans"/>
              <a:buNone/>
            </a:pPr>
            <a:r>
              <a:rPr b="0" i="0" lang="en-US" sz="111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有沒有前置驗證</a:t>
            </a:r>
            <a:endParaRPr b="0" i="0" sz="11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10"/>
              <a:buFont typeface="Noto Sans"/>
              <a:buNone/>
            </a:pPr>
            <a:r>
              <a:rPr b="0" i="0" lang="en-US" sz="111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有沒有檔案處理</a:t>
            </a:r>
            <a:endParaRPr b="0" i="0" sz="11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10"/>
              <a:buFont typeface="Noto Sans"/>
              <a:buNone/>
            </a:pPr>
            <a:r>
              <a:rPr b="0" i="0" lang="en-US" sz="111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有沒有權限 / 記錄 / 同步邏輯</a:t>
            </a:r>
            <a:endParaRPr b="0" i="0" sz="11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502920" y="6556248"/>
            <a:ext cx="34747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所以後端不是單純資料表 CRUD，而是「帶流程的資料管理」。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5" name="Google Shape;335;p10"/>
          <p:cNvSpPr txBox="1"/>
          <p:nvPr>
            <p:ph idx="4294967295" type="sldNum"/>
          </p:nvPr>
        </p:nvSpPr>
        <p:spPr>
          <a:xfrm>
            <a:off x="11430000" y="6565392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3341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1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10. CSR 與 SSR：在 WCMS 裡各自扮演什麼角色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530352" y="731520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目前專案已是混合式，不是只有單一前端渲染方式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43" name="Google Shape;343;p11"/>
          <p:cNvCxnSpPr/>
          <p:nvPr/>
        </p:nvCxnSpPr>
        <p:spPr>
          <a:xfrm>
            <a:off x="502920" y="1005840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4" name="Google Shape;344;p11"/>
          <p:cNvSpPr/>
          <p:nvPr/>
        </p:nvSpPr>
        <p:spPr>
          <a:xfrm>
            <a:off x="658368" y="1280160"/>
            <a:ext cx="3429000" cy="4480560"/>
          </a:xfrm>
          <a:prstGeom prst="roundRect">
            <a:avLst>
              <a:gd fmla="val 160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635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1"/>
          <p:cNvSpPr/>
          <p:nvPr/>
        </p:nvSpPr>
        <p:spPr>
          <a:xfrm>
            <a:off x="822960" y="1417320"/>
            <a:ext cx="1417320" cy="310896"/>
          </a:xfrm>
          <a:prstGeom prst="roundRect">
            <a:avLst>
              <a:gd fmla="val 23529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1"/>
          <p:cNvSpPr/>
          <p:nvPr/>
        </p:nvSpPr>
        <p:spPr>
          <a:xfrm>
            <a:off x="822960" y="1453896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Noto Sans"/>
                <a:ea typeface="Noto Sans"/>
                <a:cs typeface="Noto Sans"/>
                <a:sym typeface="Noto Sans"/>
              </a:rPr>
              <a:t>瀏覽器組畫面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822950" y="1792225"/>
            <a:ext cx="3193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CSR（Client-Side Rendering）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822960" y="2139696"/>
            <a:ext cx="3099816" cy="349300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90"/>
              <a:buFont typeface="Noto Sans"/>
              <a:buNone/>
            </a:pPr>
            <a:r>
              <a:rPr b="0" i="0" lang="en-US" sz="109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瀏覽器端拿到 JS 後，再把畫面組出來。</a:t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0"/>
              <a:buFont typeface="Noto Sans"/>
              <a:buNone/>
            </a:pPr>
            <a:r>
              <a:t/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90"/>
              <a:buFont typeface="Noto Sans"/>
              <a:buNone/>
            </a:pPr>
            <a:r>
              <a:rPr b="0" i="0" lang="en-US" sz="109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在專案中可對照：</a:t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90"/>
              <a:buFont typeface="Noto Sans"/>
              <a:buNone/>
            </a:pPr>
            <a:r>
              <a:rPr b="0" i="0" lang="en-US" sz="109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src/SSR/Entry-Client.tsx</a:t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90"/>
              <a:buFont typeface="Noto Sans"/>
              <a:buNone/>
            </a:pPr>
            <a:r>
              <a:rPr b="0" i="0" lang="en-US" sz="109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hydrateRoot / createRoot</a:t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90"/>
              <a:buFont typeface="Noto Sans"/>
              <a:buNone/>
            </a:pPr>
            <a:r>
              <a:rPr b="0" i="0" lang="en-US" sz="109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互動後的 hooks、切頁、再查詢</a:t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0"/>
              <a:buFont typeface="Noto Sans"/>
              <a:buNone/>
            </a:pPr>
            <a:r>
              <a:t/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90"/>
              <a:buFont typeface="Noto Sans"/>
              <a:buNone/>
            </a:pPr>
            <a:r>
              <a:rPr b="0" i="0" lang="en-US" sz="109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優點：互動性高、切換靈活。</a:t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90"/>
              <a:buFont typeface="Noto Sans"/>
              <a:buNone/>
            </a:pPr>
            <a:r>
              <a:rPr b="0" i="0" lang="en-US" sz="109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挑戰：首屏若完全靠 CSR，AA / 檢測 / 首次呈現較不利。</a:t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4370832" y="1280160"/>
            <a:ext cx="3429000" cy="4480560"/>
          </a:xfrm>
          <a:prstGeom prst="roundRect">
            <a:avLst>
              <a:gd fmla="val 160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635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1"/>
          <p:cNvSpPr/>
          <p:nvPr/>
        </p:nvSpPr>
        <p:spPr>
          <a:xfrm>
            <a:off x="4535424" y="1417320"/>
            <a:ext cx="1417320" cy="310896"/>
          </a:xfrm>
          <a:prstGeom prst="roundRect">
            <a:avLst>
              <a:gd fmla="val 23529" name="adj"/>
            </a:avLst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1"/>
          <p:cNvSpPr/>
          <p:nvPr/>
        </p:nvSpPr>
        <p:spPr>
          <a:xfrm>
            <a:off x="4535424" y="1453896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Noto Sans"/>
                <a:ea typeface="Noto Sans"/>
                <a:cs typeface="Noto Sans"/>
                <a:sym typeface="Noto Sans"/>
              </a:rPr>
              <a:t>伺服器先出首屏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4535425" y="1792225"/>
            <a:ext cx="3264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SSR（Server-Side Rendering）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4535424" y="2139696"/>
            <a:ext cx="3099816" cy="349300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90"/>
              <a:buFont typeface="Noto Sans"/>
              <a:buNone/>
            </a:pPr>
            <a:r>
              <a:rPr b="0" i="0" lang="en-US" sz="109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伺服器先把首屏 HTML 生好，再送給瀏覽器。</a:t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0"/>
              <a:buFont typeface="Noto Sans"/>
              <a:buNone/>
            </a:pPr>
            <a:r>
              <a:t/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90"/>
              <a:buFont typeface="Noto Sans"/>
              <a:buNone/>
            </a:pPr>
            <a:r>
              <a:rPr b="0" i="0" lang="en-US" sz="109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在專案中可對照：</a:t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90"/>
              <a:buFont typeface="Noto Sans"/>
              <a:buNone/>
            </a:pPr>
            <a:r>
              <a:rPr b="0" i="0" lang="en-US" sz="109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src/SSR/SSR-Server.ts</a:t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90"/>
              <a:buFont typeface="Noto Sans"/>
              <a:buNone/>
            </a:pPr>
            <a:r>
              <a:rPr b="0" i="0" lang="en-US" sz="109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src/SSR/Entry-Server.tsx</a:t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90"/>
              <a:buFont typeface="Noto Sans"/>
              <a:buNone/>
            </a:pPr>
            <a:r>
              <a:rPr b="0" i="0" lang="en-US" sz="109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route loader 先取資料</a:t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0"/>
              <a:buFont typeface="Noto Sans"/>
              <a:buNone/>
            </a:pPr>
            <a:r>
              <a:t/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90"/>
              <a:buFont typeface="Noto Sans"/>
              <a:buNone/>
            </a:pPr>
            <a:r>
              <a:rPr b="0" i="0" lang="en-US" sz="109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優點：對首屏內容、SEO、AA / Freego 檢測更友善。</a:t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90"/>
              <a:buFont typeface="Noto Sans"/>
              <a:buNone/>
            </a:pPr>
            <a:r>
              <a:rPr b="0" i="0" lang="en-US" sz="109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也比較能讓關 JS 的情況下仍看到完整首屏。</a:t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8083296" y="1280160"/>
            <a:ext cx="3429000" cy="4480560"/>
          </a:xfrm>
          <a:prstGeom prst="roundRect">
            <a:avLst>
              <a:gd fmla="val 160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635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1"/>
          <p:cNvSpPr/>
          <p:nvPr/>
        </p:nvSpPr>
        <p:spPr>
          <a:xfrm>
            <a:off x="8247888" y="1417320"/>
            <a:ext cx="1417320" cy="310896"/>
          </a:xfrm>
          <a:prstGeom prst="roundRect">
            <a:avLst>
              <a:gd fmla="val 23529" name="adj"/>
            </a:avLst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1"/>
          <p:cNvSpPr/>
          <p:nvPr/>
        </p:nvSpPr>
        <p:spPr>
          <a:xfrm>
            <a:off x="8247888" y="1453896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Noto Sans"/>
                <a:ea typeface="Noto Sans"/>
                <a:cs typeface="Noto Sans"/>
                <a:sym typeface="Noto Sans"/>
              </a:rPr>
              <a:t>專案現實需求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8247888" y="1792224"/>
            <a:ext cx="30998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WCMS 為什麼特別重視 SSR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8" name="Google Shape;358;p11"/>
          <p:cNvSpPr/>
          <p:nvPr/>
        </p:nvSpPr>
        <p:spPr>
          <a:xfrm>
            <a:off x="8247888" y="2139696"/>
            <a:ext cx="3099816" cy="349300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90"/>
              <a:buFont typeface="Noto Sans"/>
              <a:buNone/>
            </a:pPr>
            <a:r>
              <a:rPr b="0" i="0" lang="en-US" sz="109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因為這個專案不只是做畫面，還有：</a:t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90"/>
              <a:buFont typeface="Noto Sans"/>
              <a:buNone/>
            </a:pPr>
            <a:r>
              <a:rPr b="0" i="0" lang="en-US" sz="109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AA 無障礙網站檢測</a:t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90"/>
              <a:buFont typeface="Noto Sans"/>
              <a:buNone/>
            </a:pPr>
            <a:r>
              <a:rPr b="0" i="0" lang="en-US" sz="109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Freego 等工具的首屏讀取</a:t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90"/>
              <a:buFont typeface="Noto Sans"/>
              <a:buNone/>
            </a:pPr>
            <a:r>
              <a:rPr b="0" i="0" lang="en-US" sz="109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多語系 / SEO / canonical / redirect</a:t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0"/>
              <a:buFont typeface="Noto Sans"/>
              <a:buNone/>
            </a:pPr>
            <a:r>
              <a:t/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90"/>
              <a:buFont typeface="Noto Sans"/>
              <a:buNone/>
            </a:pPr>
            <a:r>
              <a:rPr b="0" i="0" lang="en-US" sz="109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所以 SSR 不是可有可無，而是會影響驗收品質與風險。</a:t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502920" y="6556248"/>
            <a:ext cx="34747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一句話：SSR 負責把首屏先站穩，CSR 再接手互動。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0" name="Google Shape;360;p11"/>
          <p:cNvSpPr txBox="1"/>
          <p:nvPr>
            <p:ph idx="4294967295" type="sldNum"/>
          </p:nvPr>
        </p:nvSpPr>
        <p:spPr>
          <a:xfrm>
            <a:off x="11430000" y="6565392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3341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2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11. 結語：新人、客服、業務、UI / UX 各自應該帶走什麼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530352" y="731520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把同一套系統，用不同角色都聽得懂的方式記住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68" name="Google Shape;368;p12"/>
          <p:cNvCxnSpPr/>
          <p:nvPr/>
        </p:nvCxnSpPr>
        <p:spPr>
          <a:xfrm>
            <a:off x="502920" y="1005840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9" name="Google Shape;369;p12"/>
          <p:cNvSpPr/>
          <p:nvPr/>
        </p:nvSpPr>
        <p:spPr>
          <a:xfrm>
            <a:off x="658368" y="1298448"/>
            <a:ext cx="2651760" cy="4480560"/>
          </a:xfrm>
          <a:prstGeom prst="roundRect">
            <a:avLst>
              <a:gd fmla="val 2069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635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2"/>
          <p:cNvSpPr/>
          <p:nvPr/>
        </p:nvSpPr>
        <p:spPr>
          <a:xfrm>
            <a:off x="822960" y="1435608"/>
            <a:ext cx="1417320" cy="310896"/>
          </a:xfrm>
          <a:prstGeom prst="roundRect">
            <a:avLst>
              <a:gd fmla="val 23529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2"/>
          <p:cNvSpPr/>
          <p:nvPr/>
        </p:nvSpPr>
        <p:spPr>
          <a:xfrm>
            <a:off x="822960" y="1472184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Noto Sans"/>
                <a:ea typeface="Noto Sans"/>
                <a:cs typeface="Noto Sans"/>
                <a:sym typeface="Noto Sans"/>
              </a:rPr>
              <a:t>RD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822960" y="1810512"/>
            <a:ext cx="232257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新人 RD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822960" y="2157984"/>
            <a:ext cx="2322576" cy="349300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先學會問三件事：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1. 這是 SysCore、Feature 還是 Spec？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2. 這個需求是新模組，還是 Feature 的擴充？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3. 這個改動會不會影響 SSR / AA / 共用 DOM？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3538728" y="1298448"/>
            <a:ext cx="2651760" cy="4480560"/>
          </a:xfrm>
          <a:prstGeom prst="roundRect">
            <a:avLst>
              <a:gd fmla="val 2069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635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2"/>
          <p:cNvSpPr/>
          <p:nvPr/>
        </p:nvSpPr>
        <p:spPr>
          <a:xfrm>
            <a:off x="3703320" y="1435608"/>
            <a:ext cx="1417320" cy="310896"/>
          </a:xfrm>
          <a:prstGeom prst="roundRect">
            <a:avLst>
              <a:gd fmla="val 23529" name="adj"/>
            </a:avLst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2"/>
          <p:cNvSpPr/>
          <p:nvPr/>
        </p:nvSpPr>
        <p:spPr>
          <a:xfrm>
            <a:off x="3703320" y="1472184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Noto Sans"/>
                <a:ea typeface="Noto Sans"/>
                <a:cs typeface="Noto Sans"/>
                <a:sym typeface="Noto Sans"/>
              </a:rPr>
              <a:t>非技術窗口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3703320" y="1810512"/>
            <a:ext cx="232257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客服 / 業務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3703320" y="2157984"/>
            <a:ext cx="2322576" cy="349300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先學會判斷需求類型：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這是標準功能調整？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還是特定 case 的客製？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這會直接影響評估：改 Feature，還是做 Spec extension。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6419088" y="1298448"/>
            <a:ext cx="2651760" cy="4480560"/>
          </a:xfrm>
          <a:prstGeom prst="roundRect">
            <a:avLst>
              <a:gd fmla="val 2069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635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2"/>
          <p:cNvSpPr/>
          <p:nvPr/>
        </p:nvSpPr>
        <p:spPr>
          <a:xfrm>
            <a:off x="6583680" y="1435608"/>
            <a:ext cx="1417320" cy="310896"/>
          </a:xfrm>
          <a:prstGeom prst="roundRect">
            <a:avLst>
              <a:gd fmla="val 23529" name="adj"/>
            </a:avLst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2"/>
          <p:cNvSpPr/>
          <p:nvPr/>
        </p:nvSpPr>
        <p:spPr>
          <a:xfrm>
            <a:off x="6583680" y="1472184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Noto Sans"/>
                <a:ea typeface="Noto Sans"/>
                <a:cs typeface="Noto Sans"/>
                <a:sym typeface="Noto Sans"/>
              </a:rPr>
              <a:t>設計協作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6583680" y="1810512"/>
            <a:ext cx="232257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UI / UX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6583680" y="2157984"/>
            <a:ext cx="2322576" cy="349300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不要再把每個 CASE 都當成全新頁面。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請先定義：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共用版型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區塊變體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可配置差異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• 必要客製延伸點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這樣才真的能和 Feature 主線對齊。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9299448" y="1298448"/>
            <a:ext cx="2249424" cy="4480560"/>
          </a:xfrm>
          <a:prstGeom prst="roundRect">
            <a:avLst>
              <a:gd fmla="val 2439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635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2"/>
          <p:cNvSpPr/>
          <p:nvPr/>
        </p:nvSpPr>
        <p:spPr>
          <a:xfrm>
            <a:off x="9464040" y="1435608"/>
            <a:ext cx="1417320" cy="310896"/>
          </a:xfrm>
          <a:prstGeom prst="roundRect">
            <a:avLst>
              <a:gd fmla="val 23529" name="adj"/>
            </a:avLst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2"/>
          <p:cNvSpPr/>
          <p:nvPr/>
        </p:nvSpPr>
        <p:spPr>
          <a:xfrm>
            <a:off x="9464040" y="1472184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總結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9464040" y="1810512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一句話總結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8" name="Google Shape;388;p12"/>
          <p:cNvSpPr/>
          <p:nvPr/>
        </p:nvSpPr>
        <p:spPr>
          <a:xfrm>
            <a:off x="9464040" y="2157984"/>
            <a:ext cx="1920240" cy="349300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WCMS 的核心，不只是把站做出來。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而是把「共用能力、客製能力、SSR / CSR、AA 要求」一起變成一套能長期維護的系統。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768096" y="5989320"/>
            <a:ext cx="10753344" cy="384048"/>
          </a:xfrm>
          <a:prstGeom prst="roundRect">
            <a:avLst>
              <a:gd fmla="val 14286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2"/>
          <p:cNvSpPr/>
          <p:nvPr/>
        </p:nvSpPr>
        <p:spPr>
          <a:xfrm>
            <a:off x="987552" y="6099048"/>
            <a:ext cx="10287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後續若要再細化，可以再往下拆成：前台、後台、SiteMenu / Module、SSR / Hydration、AA / SEO 五份專題簡報。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502920" y="6556248"/>
            <a:ext cx="34747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本版定位：系統全貌介紹 + 架構觀念導入。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2" name="Google Shape;392;p12"/>
          <p:cNvSpPr txBox="1"/>
          <p:nvPr>
            <p:ph idx="4294967295" type="sldNum"/>
          </p:nvPr>
        </p:nvSpPr>
        <p:spPr>
          <a:xfrm>
            <a:off x="11430000" y="6565392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3341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2026-03-25T02:18:28Z</dcterms:created>
  <dc:creator>OpenAI</dc:creator>
</cp:coreProperties>
</file>