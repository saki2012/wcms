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7" r:id="rId12"/>
    <p:sldId id="266" r:id="rId13"/>
    <p:sldId id="267" r:id="rId14"/>
    <p:sldId id="268" r:id="rId15"/>
    <p:sldId id="269" r:id="rId16"/>
    <p:sldId id="270" r:id="rId17"/>
    <p:sldId id="271" r:id="rId18"/>
    <p:sldId id="288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38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開場：先說明這不是完整系統教育訓練，而是讓新 QA 建立可參與測試與回報問題的共同語言。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 QA 先知道今天簡報的落點，避免誤會為完整功能規格說明。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這頁要講現實限制：人力不足時，QA 的紀錄品質比單純執行數量更重要。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用一條路徑讓 QA 知道：今天談 CMS，但不是停在 CMS，後續會有 ERP 型測試。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用架構圖協助 QA 後續回報問題時，不要只寫「畫面壞掉」，而能描述可能層級。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這頁不用深入 DevOps，只需要 QA 理解環境差異會影響重現。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這是新 QA 最容易踩到的觀念，要明確告訴他前台和後台不是一樣的測試法。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拆解 SSR 到 CSR 過程，讓 QA 後續能分類問題。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把前台測試拆成五大方向，讓 QA 有優先順序。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 QA：AA 不只是 Freego 或工具報告，鍵盤與使用體感要人工保留。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這頁要接在 AA 檢測後面，說明 WCMS 不只人工檢查 AA，也要把常見規則逐步收斂到程式與共用層，例如 LangLink、後端 AA Check、共用元件 label / 狀態 / 提示規則，避免客製資料輸入錯誤造成後續驗證成本。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結合目前專案曾遇到的 SSR route cache 類型問題，QA 不需要知道解法，但要知道怎麼記錄。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後台測試重點是資料維護，不是 SSR。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這頁對應 WCMS Toast 規則，避免 QA 只說「提示怪怪的」。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讓有 QA 經驗的人理解分層架構即可，不需要深入原始碼實作。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 QA 經驗的人會懂影響範圍；這頁把 WCMS 分層導入 QA 思維。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這頁是模組地圖，避免 QA 進系統後不知道問題歸屬。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給 QA 一個成熟度觀念，避免驗收期望混亂。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 QA 知道問題不是只看 UI，至少能保留 network / API response。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明確給 QA 優先順序，避免一開始分散測太多。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這頁要承接人力稀缺，讓 QA 知道紀錄品質是核心價值。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這頁未來可直接轉成 issue template 或測試表單。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用模板讓 QA 快速上手，也讓 AI 可以解析。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 QA 了解 AI 在白箱測試中的角色，而不是把 AI 當成測試工具替代品。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這頁避免讓 QA 覺得 AI 是來取代他，而是聚焦分工。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強調回歸不是機械重測，而是要根據架構層級決定範圍。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幫使用者補足「測試規則 -&gt; AI 初步白箱 Test」的概念。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重新整理已知缺口，加入 QA 實際應對。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人力稀缺下，開 bug 後要有分流邏輯。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再次銜接 ERP，讓 QA 知道後續測試深度會逐步增加。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這頁提供新 QA 的切入路線，對明天談話很有幫助。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收尾：先掌握 CMS 測試，再理解後台資料維護，最後進入 ERP 流程測試。重點是測試資料要成為資產。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系統現況與 QA / AI 協作簡報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94944" y="224028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D7E0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給具備 QA 經驗的新成員：快速理解 WCMS、前台檢測重點、以及人力稀缺下如何留下可被 AI 協作的測試資料。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713232" y="3977640"/>
            <a:ext cx="1783080" cy="329184"/>
          </a:xfrm>
          <a:prstGeom prst="rect">
            <a:avLst/>
          </a:prstGeom>
          <a:solidFill>
            <a:srgbClr val="276EF1"/>
          </a:solidFill>
          <a:ln>
            <a:solidFill>
              <a:srgbClr val="276EF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CMS 前台檢測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2770632" y="3977640"/>
            <a:ext cx="1572768" cy="329184"/>
          </a:xfrm>
          <a:prstGeom prst="rect">
            <a:avLst/>
          </a:prstGeom>
          <a:solidFill>
            <a:srgbClr val="12B5A6"/>
          </a:solidFill>
          <a:ln>
            <a:solidFill>
              <a:srgbClr val="12B5A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ERP 型流程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617720" y="3977640"/>
            <a:ext cx="1874520" cy="329184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可解析資料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784848" y="3977640"/>
            <a:ext cx="1737360" cy="329184"/>
          </a:xfrm>
          <a:prstGeom prst="rect">
            <a:avLst/>
          </a:prstGeom>
          <a:solidFill>
            <a:srgbClr val="755CDE"/>
          </a:solidFill>
          <a:ln>
            <a:solidFill>
              <a:srgbClr val="755CD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Onboarding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13232" y="6071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/ WCMS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018520" y="58064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AB8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MEETING GOAL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這場會議要建立四個共同語言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先知道系統怎麼長，再知道問題怎麼測、怎麼回報、怎麼讓 AI 協作。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938528"/>
            <a:ext cx="2542032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38528"/>
            <a:ext cx="82296" cy="283464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756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系統定位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459736"/>
            <a:ext cx="2194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目前從網站內容管理出發，後續會逐步往 ERP 型業務流程與資料治理靠近。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47872" y="1938528"/>
            <a:ext cx="2542032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938528"/>
            <a:ext cx="82296" cy="2834640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0756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測試分流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3749040" y="2459736"/>
            <a:ext cx="2194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前台重視 AA / SSR / CSR；後台重視 CRUD / API / 權限 / 資料一致性。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45936" y="1938528"/>
            <a:ext cx="2542032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938528"/>
            <a:ext cx="82296" cy="283464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0756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B7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模組分層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547104" y="2459736"/>
            <a:ext cx="2194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 SysCore、Feature、SpecFeature，避免每個問題都當成單一頁面 bug。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0" y="1938528"/>
            <a:ext cx="2542032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938528"/>
            <a:ext cx="82296" cy="2834640"/>
          </a:xfrm>
          <a:prstGeom prst="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45168" y="20756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755C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AI 協作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9345168" y="2459736"/>
            <a:ext cx="2194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測試紀錄要可重現、可解析、可回歸，讓有限人力產生更高品質資產。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今天先談「測試地圖」與「協作規則」，不是一次塞完所有操作細節。</a:t>
            </a:r>
            <a:endParaRPr lang="en-US" sz="1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REALITY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目前人力非常稀缺，所以測試成果必須能累積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不是只負責大量點測；更重要的是讓每次測試都能被 RD、QA、AI 重複使用。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901952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01952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39112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1520" b="1" dirty="0">
                <a:solidFill>
                  <a:srgbClr val="276EF1"/>
                </a:solidFill>
                <a:latin typeface="Noto Sans CJK TC" pitchFamily="34" charset="0"/>
              </a:rPr>
              <a:t>目前測試與維護的困境</a:t>
            </a:r>
            <a:endParaRPr lang="en-US" sz="1520" b="1" dirty="0">
              <a:solidFill>
                <a:srgbClr val="276EF1"/>
              </a:solidFill>
              <a:latin typeface="Noto Sans CJK TC" pitchFamily="34" charset="0"/>
              <a:ea typeface="Noto Sans CJK TC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0976" y="2423160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ja-JP" altLang="en-US" sz="1400" dirty="0"/>
              <a:t>・人力稀缺，且缺少專業 </a:t>
            </a:r>
            <a:r>
              <a:rPr lang="en-US" altLang="ja-JP" sz="1400" dirty="0"/>
              <a:t>QA </a:t>
            </a:r>
            <a:r>
              <a:rPr lang="ja-JP" altLang="en-US" sz="1400" dirty="0"/>
              <a:t>對口</a:t>
            </a:r>
            <a:br>
              <a:rPr lang="ja-JP" altLang="en-US" sz="1400" dirty="0"/>
            </a:br>
            <a:r>
              <a:rPr lang="ja-JP" altLang="en-US" sz="1400" dirty="0"/>
              <a:t>・過去專案多偏複製貼上，缺少版控與公版 </a:t>
            </a:r>
            <a:r>
              <a:rPr lang="en-US" altLang="ja-JP" sz="1400" dirty="0"/>
              <a:t>/ </a:t>
            </a:r>
            <a:r>
              <a:rPr lang="ja-JP" altLang="en-US" sz="1400" dirty="0"/>
              <a:t>客製分層</a:t>
            </a:r>
            <a:br>
              <a:rPr lang="ja-JP" altLang="en-US" sz="1400" dirty="0"/>
            </a:br>
            <a:r>
              <a:rPr lang="ja-JP" altLang="en-US" sz="1400" dirty="0"/>
              <a:t>・測試多由客服或業務支援，問題紀錄難以長期沉澱</a:t>
            </a:r>
            <a:br>
              <a:rPr lang="ja-JP" altLang="en-US" sz="1400" dirty="0"/>
            </a:br>
            <a:r>
              <a:rPr lang="ja-JP" altLang="en-US" sz="1400" dirty="0"/>
              <a:t>・截圖或口頭描述容易留下，但測項、原因與影響範圍不易整合</a:t>
            </a:r>
          </a:p>
        </p:txBody>
      </p:sp>
      <p:sp>
        <p:nvSpPr>
          <p:cNvPr id="12" name="Shape 10"/>
          <p:cNvSpPr/>
          <p:nvPr/>
        </p:nvSpPr>
        <p:spPr>
          <a:xfrm>
            <a:off x="6327648" y="1901952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901952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39112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</a:t>
            </a:r>
            <a:r>
              <a:rPr lang="en-US" sz="1520" b="1" dirty="0" err="1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需要的測試資產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423160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TW" altLang="en-US" sz="1400" dirty="0"/>
              <a:t>・問題要能追到客製 </a:t>
            </a:r>
            <a:r>
              <a:rPr lang="en-US" altLang="zh-TW" sz="1400" dirty="0"/>
              <a:t>/ </a:t>
            </a:r>
            <a:r>
              <a:rPr lang="zh-TW" altLang="en-US" sz="1400" dirty="0"/>
              <a:t>公版 </a:t>
            </a:r>
            <a:r>
              <a:rPr lang="en-US" altLang="zh-TW" sz="1400" dirty="0"/>
              <a:t>/ </a:t>
            </a:r>
            <a:r>
              <a:rPr lang="en-US" altLang="zh-TW" sz="1400" dirty="0" err="1"/>
              <a:t>SysCore</a:t>
            </a:r>
            <a:r>
              <a:rPr lang="en-US" altLang="zh-TW" sz="1400" dirty="0"/>
              <a:t> Library</a:t>
            </a:r>
            <a:br>
              <a:rPr lang="en-US" altLang="zh-TW" sz="1400" dirty="0"/>
            </a:br>
            <a:r>
              <a:rPr lang="zh-TW" altLang="en-US" sz="1400" dirty="0"/>
              <a:t>・測項要能回歸，不是測完一次就消失</a:t>
            </a:r>
            <a:br>
              <a:rPr lang="zh-TW" altLang="en-US" sz="1400" dirty="0"/>
            </a:br>
            <a:r>
              <a:rPr lang="zh-TW" altLang="en-US" sz="1400" dirty="0"/>
              <a:t>・證據要能讓 </a:t>
            </a:r>
            <a:r>
              <a:rPr lang="en-US" altLang="zh-TW" sz="1400" dirty="0"/>
              <a:t>RD</a:t>
            </a:r>
            <a:r>
              <a:rPr lang="zh-TW" altLang="en-US" sz="1400" dirty="0"/>
              <a:t>、</a:t>
            </a:r>
            <a:r>
              <a:rPr lang="en-US" altLang="zh-TW" sz="1400" dirty="0"/>
              <a:t>QA</a:t>
            </a:r>
            <a:r>
              <a:rPr lang="zh-TW" altLang="en-US" sz="1400" dirty="0"/>
              <a:t>、</a:t>
            </a:r>
            <a:r>
              <a:rPr lang="en-US" altLang="zh-TW" sz="1400" dirty="0"/>
              <a:t>AI </a:t>
            </a:r>
            <a:r>
              <a:rPr lang="zh-TW" altLang="en-US" sz="1400" dirty="0"/>
              <a:t>都看得懂</a:t>
            </a:r>
            <a:br>
              <a:rPr lang="zh-TW" altLang="en-US" sz="1400" dirty="0"/>
            </a:br>
            <a:r>
              <a:rPr lang="zh-TW" altLang="en-US" sz="1400" dirty="0"/>
              <a:t>・紀錄要能餵給 </a:t>
            </a:r>
            <a:r>
              <a:rPr lang="en-US" altLang="zh-TW" sz="1400" dirty="0"/>
              <a:t>AI</a:t>
            </a:r>
            <a:r>
              <a:rPr lang="zh-TW" altLang="en-US" sz="1400" dirty="0"/>
              <a:t>，避免同類問題反覆踩雷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5650992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dirty="0" err="1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核心思維</a:t>
            </a:r>
            <a:r>
              <a:rPr lang="en-US" sz="183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zh-TW" altLang="en-US" dirty="0">
                <a:solidFill>
                  <a:srgbClr val="E4572E"/>
                </a:solidFill>
                <a:latin typeface="Noto Sans CJK TC" pitchFamily="34" charset="0"/>
              </a:rPr>
              <a:t>把每次 </a:t>
            </a:r>
            <a:r>
              <a:rPr lang="en-US" altLang="zh-TW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QA </a:t>
            </a:r>
            <a:r>
              <a:rPr lang="zh-TW" altLang="en-US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測試，轉成能分辨客製 </a:t>
            </a:r>
            <a:r>
              <a:rPr lang="en-US" altLang="zh-TW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/ </a:t>
            </a:r>
            <a:r>
              <a:rPr lang="zh-TW" altLang="en-US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公版 </a:t>
            </a:r>
            <a:r>
              <a:rPr lang="en-US" altLang="zh-TW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/ </a:t>
            </a:r>
            <a:r>
              <a:rPr lang="en-US" altLang="zh-TW" dirty="0" err="1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SysCore</a:t>
            </a:r>
            <a:r>
              <a:rPr lang="zh-TW" altLang="en-US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，並可餵給 </a:t>
            </a:r>
            <a:r>
              <a:rPr lang="en-US" altLang="zh-TW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AI </a:t>
            </a:r>
            <a:r>
              <a:rPr lang="zh-TW" altLang="en-US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</a:rPr>
              <a:t>持續累積的品質資料</a:t>
            </a:r>
            <a:endParaRPr lang="en-US" dirty="0">
              <a:solidFill>
                <a:srgbClr val="E4572E"/>
              </a:solidFill>
              <a:latin typeface="Noto Sans CJK TC" pitchFamily="34" charset="0"/>
              <a:ea typeface="Noto Sans CJK TC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SYSTEM DIRECTION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是什麼？接下來要邁向什麼？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目前從網站內容管理出發，後續逐步長成具備 ERP 型流程邏輯的系統。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3355" y="309067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87798" y="309067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62242" y="309067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36685" y="309067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587752"/>
            <a:ext cx="1680667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5234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78408" y="309981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內容管理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頁面維護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070555" y="2587752"/>
            <a:ext cx="1680667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5419" y="275234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Portal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52851" y="309981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前台網站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 / SEO / SSR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244998" y="2587752"/>
            <a:ext cx="1680667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9862" y="275234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Operation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327294" y="309981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後台維運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 / CRUD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419442" y="2587752"/>
            <a:ext cx="1680667" cy="1005840"/>
          </a:xfrm>
          <a:prstGeom prst="round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4306" y="275234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501738" y="309981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業務流程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狀態流轉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593885" y="2587752"/>
            <a:ext cx="1680667" cy="1005840"/>
          </a:xfrm>
          <a:prstGeom prst="round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8749" y="275234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ERP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676181" y="309981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資料治理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歷程 / 監控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251960"/>
            <a:ext cx="82296" cy="16276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初期要先掌握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5097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・前台是否正確呈現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・AA / Freego / SSR 檢測差異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・後台資料維護是否穩定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632764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4251960"/>
            <a:ext cx="82296" cy="162763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後續要逐步銜接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2881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・流程節點與狀態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・跨模組資料關聯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・權限、歷程與稽核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ARCHITECTURE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目前技術架構，QA 需要知道到這個程度即可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不要求 QA 寫程式，但要能判斷問題可能落在哪一層。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788920"/>
            <a:ext cx="1179576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715000" y="2788920"/>
            <a:ext cx="1280160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32520" y="2788920"/>
            <a:ext cx="1216152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212848"/>
            <a:ext cx="2057400" cy="118872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3774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Frontend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905256" y="2724912"/>
            <a:ext cx="1892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React + Vite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/ CSR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0" y="2212848"/>
            <a:ext cx="1645920" cy="118872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9664" y="23774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4197096" y="2724912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RESTful 初期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 GraphQL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2212848"/>
            <a:ext cx="1737360" cy="1188720"/>
          </a:xfrm>
          <a:prstGeom prst="roundRect">
            <a:avLst/>
          </a:prstGeom>
          <a:solidFill>
            <a:srgbClr val="1C2A3A"/>
          </a:solidFill>
          <a:ln w="12700">
            <a:solidFill>
              <a:srgbClr val="1C2A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23774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Backend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7123176" y="272491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ASP.NET Core 8+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JWT + Cache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12680" y="2212848"/>
            <a:ext cx="1325880" cy="118872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67544" y="237744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DB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10094976" y="2724912"/>
            <a:ext cx="1161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MSSQL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後續可調整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" y="4224528"/>
            <a:ext cx="5230368" cy="1554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24528"/>
            <a:ext cx="82296" cy="15544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36168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目前現況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950976" y="4745736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・前後端分離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・尚無 Docker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・初期 RESTful API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・後端有映射快取概念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6327648" y="4224528"/>
            <a:ext cx="5230368" cy="1554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4224528"/>
            <a:ext cx="82296" cy="1554480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436168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判斷方向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6528816" y="4745736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・是畫面互動問題？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・是 API 回傳問題？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・是後端驗證問題？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・是 DB / Cache 資料不同步？</a:t>
            </a:r>
            <a:endParaRPr lang="en-US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ENVIRONMENT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部署與環境現況：先以現行測試方式為主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目前沒有 Docker；未來可能導入 Linux / Redis / Docker，但 QA 先掌握現行環境即可。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965960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65960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03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現階段測試時要注意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487168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</a:t>
            </a:r>
            <a:r>
              <a:rPr lang="en-US" sz="1380" dirty="0" err="1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前台與後台</a:t>
            </a: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</a:t>
            </a:r>
            <a:r>
              <a:rPr lang="en-US" sz="1380" dirty="0" err="1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有不同入口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・SSR 與 CSR 的 route / cache </a:t>
            </a:r>
            <a:r>
              <a:rPr lang="en-US" sz="1380" dirty="0" err="1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要分開看</a:t>
            </a:r>
            <a:endParaRPr lang="en-US" sz="1380" dirty="0">
              <a:solidFill>
                <a:srgbClr val="1C2A3A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</a:t>
            </a: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錯誤訊息是否清晰明瞭</a:t>
            </a:r>
            <a:endParaRPr lang="en-US" altLang="zh-TW" sz="1380" dirty="0">
              <a:solidFill>
                <a:srgbClr val="1C2A3A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27648" y="1965960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965960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103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未來環境方向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487168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・Docker </a:t>
            </a:r>
            <a:r>
              <a:rPr lang="en-US" sz="1380" dirty="0" err="1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化後會更重視部署一致性</a:t>
            </a:r>
            <a:endParaRPr lang="en-US" sz="1380" dirty="0">
              <a:solidFill>
                <a:srgbClr val="1C2A3A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buNone/>
            </a:pP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altLang="zh-TW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前端後端甚至</a:t>
            </a:r>
            <a:r>
              <a:rPr lang="en-US" altLang="zh-TW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DB</a:t>
            </a: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跟</a:t>
            </a:r>
            <a:r>
              <a:rPr lang="en-US" altLang="zh-TW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Redis</a:t>
            </a: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會打包同一個</a:t>
            </a:r>
            <a:r>
              <a:rPr lang="en-US" altLang="zh-TW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</a:t>
            </a:r>
            <a:r>
              <a:rPr lang="zh-TW" alt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壓力負載測試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</a:t>
            </a:r>
            <a:r>
              <a:rPr lang="en-US" sz="1380" dirty="0" err="1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健康檢查會逐步補強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紀錄環境資訊很重要：同一個 bug 在不同環境可能不會重現。</a:t>
            </a:r>
            <a:endParaRPr lang="en-US" sz="1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ENTRY DIFFERENCE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 / 後台不是同一種測試邏輯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前台要讓使用者與檢測工具看得懂；後台要讓維運人員穩定管理資料。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前台網站：SSR + CSR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・SSR：伺服器先產 HTML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・CSR：瀏覽器接手互動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・Freego / SEO / Meta 會受到 SSR 影響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・路由、語系、內容輸出要特別看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後台網站：純 CSR 即可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・重點是資料維護流程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・表單、列表、排序、查詢、保存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・權限、JWT、API 錯誤訊息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・不需用前台 SSR 規則檢測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605272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看到瀏覽器畫面正常，不代表 SSR 原始輸出一定正常。</a:t>
            </a:r>
            <a:endParaRPr lang="en-US" sz="1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/ CSR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與 CSR 的差異，QA 要怎麼看？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不用深入框架原理，但要知道檢測點不同。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6966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75020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93074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" y="2267712"/>
            <a:ext cx="2224278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Request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78408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瀏覽器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送出請求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614166" y="2267712"/>
            <a:ext cx="2224278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9030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696462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伺服器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 HTML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332220" y="2267712"/>
            <a:ext cx="2224278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7084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Hydration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414516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接手互動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9050274" y="2267712"/>
            <a:ext cx="2224278" cy="1005840"/>
          </a:xfrm>
          <a:prstGeom prst="round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138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CSR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132570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操作與切頁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22960" y="4041648"/>
            <a:ext cx="5166360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041648"/>
            <a:ext cx="82296" cy="162763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17880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</a:t>
            </a:r>
            <a:r>
              <a:rPr lang="en-US" sz="1520" b="1" dirty="0" err="1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檢測重點</a:t>
            </a:r>
            <a:r>
              <a:rPr lang="zh-TW" alt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altLang="zh-TW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zh-TW" alt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瀏覽器關閉</a:t>
            </a:r>
            <a:r>
              <a:rPr lang="en-US" altLang="zh-TW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</a:t>
            </a:r>
            <a:r>
              <a:rPr lang="zh-TW" alt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即是都</a:t>
            </a:r>
            <a:r>
              <a:rPr lang="en-US" altLang="zh-TW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</a:t>
            </a:r>
            <a:r>
              <a:rPr lang="zh-TW" alt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的資料</a:t>
            </a:r>
            <a:r>
              <a:rPr lang="en-US" altLang="zh-TW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1024128" y="4562856"/>
            <a:ext cx="48188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・原始 HTML 是否有內容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・Route 是否能正確命中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・Meta / title / lang 是否正確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・Freego 是否抓得到頁面內容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6309360" y="4041648"/>
            <a:ext cx="5166360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4041648"/>
            <a:ext cx="82296" cy="1627632"/>
          </a:xfrm>
          <a:prstGeom prst="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417880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755C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CSR 檢測重點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6510528" y="4562856"/>
            <a:ext cx="48188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・瀏覽器互動是否正常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・切頁後資料是否更新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・表單與鍵盤操作是否順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・Network 是否有錯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PUBLIC SITE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前台網站 QA 重點：先顧「可被正確讀取」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前台不只是畫面漂亮，還要能被使用者、檢測工具、搜尋引擎與輔助科技讀到。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82296" cy="105156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10312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 無障礙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69848" y="248716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鍵盤、Focus、Label、Alt、表單提示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65960"/>
            <a:ext cx="82296" cy="1051560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10312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/ Freego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773168" y="248716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 HTML、Route、Meta、語系輸出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75320" y="196596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965960"/>
            <a:ext cx="82296" cy="105156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10312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B7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RWD / UX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476488" y="248716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不同螢幕、閱讀順序、互動手感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68680" y="347472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474720"/>
            <a:ext cx="82296" cy="1051560"/>
          </a:xfrm>
          <a:prstGeom prst="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36118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755C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多語系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1069848" y="399592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切換語系、fallback、連結與內容一致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572000" y="347472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74720"/>
            <a:ext cx="82296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6118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弱掃風險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4773168" y="399592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連結、iframe、上傳、外部資源安全性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 QA 的目標：確認內容「看得到、讀得到、檢得到、用得到」。</a:t>
            </a:r>
            <a:endParaRPr lang="en-US" sz="1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 CHECK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 檢測不是只跑工具，也包含操作體感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前台需支援 AA；QA 要保留工具結果，也要實際操作。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工具容易檢出的問題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・圖片 alt 缺漏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・label / input 對應錯誤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・標題階層不合理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・對比、語系、結構性問題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人工更容易確認的問題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・鍵盤能不能完整操作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・Focus 順序是否自然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・錯誤提示是否看得懂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・互動元件是否符合直覺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 測試要保留「工具結果 + 人工操作紀錄」，兩者都重要。</a:t>
            </a:r>
            <a:endParaRPr lang="en-US" sz="1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40" b="1">
                <a:solidFill>
                  <a:srgbClr val="276EF1"/>
                </a:solidFill>
                <a:latin typeface="Noto Sans CJK TC"/>
              </a:rPr>
              <a:t>AA RULES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02033"/>
                </a:solidFill>
                <a:latin typeface="Noto Sans CJK TC"/>
              </a:rPr>
              <a:t>AA 規則要逐步收斂成程式自動處理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 b="0">
                <a:solidFill>
                  <a:srgbClr val="526173"/>
                </a:solidFill>
                <a:latin typeface="Noto Sans CJK TC"/>
              </a:rPr>
              <a:t>WCMS 已開始補一些 AA 處理；下一步重點是把規則集中，降低客製輸入與人工維護造成的風險。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850" b="0">
                <a:solidFill>
                  <a:srgbClr val="8290A2"/>
                </a:solidFill>
                <a:latin typeface="Noto Sans CJK TC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8290A2"/>
                </a:solidFill>
                <a:latin typeface="Noto Sans CJK TC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20" b="1">
                <a:solidFill>
                  <a:srgbClr val="276EF1"/>
                </a:solidFill>
                <a:latin typeface="Noto Sans CJK TC"/>
              </a:rPr>
              <a:t>目前已做的 AA 收斂例子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 b="0">
                <a:solidFill>
                  <a:srgbClr val="1C2A3A"/>
                </a:solidFill>
                <a:latin typeface="Noto Sans CJK TC"/>
              </a:rPr>
              <a:t>・LangLink：補強語系切換連結的可讀性與操作一致性</a:t>
            </a:r>
            <a:endParaRPr lang="en-US" sz="1380" dirty="0"/>
          </a:p>
          <a:p>
            <a:r>
              <a:rPr sz="1280" b="0">
                <a:solidFill>
                  <a:srgbClr val="1C2A3A"/>
                </a:solidFill>
                <a:latin typeface="Noto Sans CJK TC"/>
              </a:rPr>
              <a:t>・後端 AA Check：開始針對欄位與內容做基本檢查</a:t>
            </a:r>
          </a:p>
          <a:p>
            <a:r>
              <a:rPr sz="1280" b="0">
                <a:solidFill>
                  <a:srgbClr val="1C2A3A"/>
                </a:solidFill>
                <a:latin typeface="Noto Sans CJK TC"/>
              </a:rPr>
              <a:t>・共用元件逐步補上 label、狀態與提示規則</a:t>
            </a:r>
          </a:p>
          <a:p>
            <a:r>
              <a:rPr sz="1280" b="0">
                <a:solidFill>
                  <a:srgbClr val="1C2A3A"/>
                </a:solidFill>
                <a:latin typeface="Noto Sans CJK TC"/>
              </a:rPr>
              <a:t>・方向不是只修單頁，而是整理可共用處理方式</a:t>
            </a:r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20" b="1">
                <a:solidFill>
                  <a:srgbClr val="12B5A6"/>
                </a:solidFill>
                <a:latin typeface="Noto Sans CJK TC"/>
              </a:rPr>
              <a:t>接下來要收斂的方向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 b="0">
                <a:solidFill>
                  <a:srgbClr val="1C2A3A"/>
                </a:solidFill>
                <a:latin typeface="Noto Sans CJK TC"/>
              </a:rPr>
              <a:t>・盡量由程式自動補齊或限制規則，減少人工判斷</a:t>
            </a:r>
            <a:endParaRPr lang="en-US" sz="1380" dirty="0"/>
          </a:p>
          <a:p>
            <a:r>
              <a:rPr sz="1280" b="0">
                <a:solidFill>
                  <a:srgbClr val="1C2A3A"/>
                </a:solidFill>
                <a:latin typeface="Noto Sans CJK TC"/>
              </a:rPr>
              <a:t>・避免客製欄位讓使用者自由輸入錯誤格式</a:t>
            </a:r>
          </a:p>
          <a:p>
            <a:r>
              <a:rPr sz="1280" b="0">
                <a:solidFill>
                  <a:srgbClr val="1C2A3A"/>
                </a:solidFill>
                <a:latin typeface="Noto Sans CJK TC"/>
              </a:rPr>
              <a:t>・把 AA 規則集中到共用層，降低各案各寫風險</a:t>
            </a:r>
          </a:p>
          <a:p>
            <a:r>
              <a:rPr sz="1280" b="0">
                <a:solidFill>
                  <a:srgbClr val="1C2A3A"/>
                </a:solidFill>
                <a:latin typeface="Noto Sans CJK TC"/>
              </a:rPr>
              <a:t>・讓前後台在欄位提示、檢查與輸出上更一致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720" b="1">
                <a:solidFill>
                  <a:srgbClr val="102033"/>
                </a:solidFill>
                <a:latin typeface="Noto Sans CJK TC"/>
              </a:rPr>
              <a:t>核心方向：AA 規則越能程式化與共用化，就越能降低客製資料輸入錯誤與後續驗證成本。</a:t>
            </a:r>
            <a:endParaRPr lang="en-US" sz="1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ROUTE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/ Route 檢測要特別記錄「重現方式」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有些問題重啟服務或清快取後消失，因此測試紀錄要能描述當時狀態。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6966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75020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93074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" y="2267712"/>
            <a:ext cx="2224278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 / 更新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78408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後台設定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SiteMenu / 內容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614166" y="2267712"/>
            <a:ext cx="2224278" cy="1005840"/>
          </a:xfrm>
          <a:prstGeom prst="roundRect">
            <a:avLst/>
          </a:prstGeom>
          <a:solidFill>
            <a:srgbClr val="2E9D60"/>
          </a:solidFill>
          <a:ln w="12700">
            <a:solidFill>
              <a:srgbClr val="2E9D6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9030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CSR 正常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696462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瀏覽器切頁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看似正常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332220" y="2267712"/>
            <a:ext cx="2224278" cy="1005840"/>
          </a:xfrm>
          <a:prstGeom prst="round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7084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失敗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414516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直接開網址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或工具檢測失敗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9050274" y="2267712"/>
            <a:ext cx="2224278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138" y="2432304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Cache / Route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132570" y="2779776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需判斷是否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快取未更新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4980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51960"/>
            <a:ext cx="82296" cy="16276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要保留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95097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・直接輸入 URL 是否重現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・站內切頁是否重現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・重整後是否重現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・重啟服務 / 清快取前後差異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632764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4251960"/>
            <a:ext cx="82296" cy="162763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回報時要標明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652881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・Route 路徑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・前台 / 後台來源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・SSR 或 CSR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・發生時間與操作順序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 OFFICE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後台網站 QA 重點：資料維護要穩定可追蹤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後台雖然不需 SSR，但 CRUD、權限、API、資料一致性要更嚴謹。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82296" cy="105156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10312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CRUD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69848" y="248716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新增、編輯、刪除、查詢、排序、分頁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65960"/>
            <a:ext cx="82296" cy="1051560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10312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773168" y="248716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必填、格式、長度、錯誤提示、保存後狀態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75320" y="196596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965960"/>
            <a:ext cx="82296" cy="105156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10312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B7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476488" y="248716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payload / response / message / status code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68680" y="347472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474720"/>
            <a:ext cx="82296" cy="1051560"/>
          </a:xfrm>
          <a:prstGeom prst="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36118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755C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Auth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1069848" y="399592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登入、JWT、權限、逾時、未授權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572000" y="3474720"/>
            <a:ext cx="32461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74720"/>
            <a:ext cx="82296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6118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4773168" y="3995928"/>
            <a:ext cx="2898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列表與明細一致、Cache 是否更新、DB 是否落地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 QA 的目標：確認資料可以被正確建立、修改、保存、查詢與追蹤。</a:t>
            </a:r>
            <a:endParaRPr lang="en-US" sz="1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ERROR MESSAGE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錯誤訊息與 Toast：QA 要看「來源」與「一致性」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不是每個錯誤都應該用同一種方式提示；後端與前端本地驗證要分清楚。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應該偏本地欄位提示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・required 必填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・maxLength / 格式限制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・file accept 檔案類型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・AA input 錯誤狀態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應該偏 API / Toast 提示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・資料已被使用，無法刪除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・保存失敗 / 權限不足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・後端驗證錯誤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・系統例外或流程失敗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回報時請描述：錯誤出現在哪裡、何時出現、訊息是否符合使用情境。</a:t>
            </a:r>
            <a:endParaRPr lang="en-US" sz="1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LAYER DESIGN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核心設計：SysCore → Feature → SpecFeature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 QA 判斷影響範圍的重要觀念：不是每個畫面都是完全獨立。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3063240"/>
            <a:ext cx="1252728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35040" y="3063240"/>
            <a:ext cx="1261872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2395728"/>
            <a:ext cx="2057400" cy="1298448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5603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SysCore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088136" y="2907792"/>
            <a:ext cx="1892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底層共用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路由 / 模板 / 欄位 / 工具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1737360" cy="1298448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5603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489704" y="2907792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業務共用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列表 / 表單 / Loader / Hook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88352" y="2395728"/>
            <a:ext cx="2286000" cy="1298448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216" y="25603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SpecFeature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7470648" y="2907792"/>
            <a:ext cx="2121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個案客製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Slot / Override / 擴充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4800600"/>
            <a:ext cx="10287000" cy="566928"/>
          </a:xfrm>
          <a:prstGeom prst="rect">
            <a:avLst/>
          </a:prstGeom>
          <a:solidFill>
            <a:srgbClr val="EEF3FA"/>
          </a:solidFill>
          <a:ln w="15240">
            <a:solidFill>
              <a:srgbClr val="276EF1">
                <a:alpha val="55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判斷：如果底層共用壞掉，可能不是單一頁面問題，而是多個模組會一起受影響。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BUG IMPACT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遇到問題時，先判斷是「個案」還是「共用層」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這會直接影響回歸測試範圍與修正風險。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比較像單一 SpecFeature 問題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・只有某個客製頁面出現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・其他同模板功能正常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・資料欄位或 slot 特別不同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・問題跟單一案例需求高度相關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比較像 Feature / SysCore 問題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・多個功能同時出現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・同類列表 / 表單都壞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・共用 Toast / Loader / Route 異常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・修正後需要較大範圍回歸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回報時若能先標註疑似層級，RD 追查速度會快很多。</a:t>
            </a:r>
            <a:endParaRPr lang="en-US" sz="1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BUSINESS MODULES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業務功能模組地圖：先知道大方向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不需要一次背完所有模組，但要知道問題應該歸在哪個區域。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1874520"/>
            <a:ext cx="331012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874520"/>
            <a:ext cx="82296" cy="1024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01168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Dashboard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42416" y="23957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統計、入口、後台總覽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44568" y="1874520"/>
            <a:ext cx="331012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1874520"/>
            <a:ext cx="82296" cy="1024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01168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745736" y="23957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共用資料與基礎設定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47888" y="1874520"/>
            <a:ext cx="331012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874520"/>
            <a:ext cx="82296" cy="1024128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201168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B7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449056" y="23957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網站內容、選單、頁面資訊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3355848"/>
            <a:ext cx="331012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355848"/>
            <a:ext cx="82296" cy="1024128"/>
          </a:xfrm>
          <a:prstGeom prst="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349300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755C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MAT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1042416" y="387705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素材、媒體、檔案管理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44568" y="3355848"/>
            <a:ext cx="331012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3355848"/>
            <a:ext cx="82296" cy="102412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49300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Account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4745736" y="387705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帳號、角色、權限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47888" y="3355848"/>
            <a:ext cx="331012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7888" y="3355848"/>
            <a:ext cx="82296" cy="1024128"/>
          </a:xfrm>
          <a:prstGeom prst="rect">
            <a:avLst/>
          </a:prstGeom>
          <a:solidFill>
            <a:srgbClr val="2E9D60"/>
          </a:solidFill>
          <a:ln w="12700">
            <a:solidFill>
              <a:srgbClr val="2E9D6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9056" y="349300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E9D6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Spec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8449056" y="387705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個案功能與客製擴充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先用模組歸類問題，再往頁面、功能、API 與資料追。</a:t>
            </a:r>
            <a:endParaRPr lang="en-US" sz="18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502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6E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BUSINESS LAYER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" y="80467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業務層測試視角：不同模組的風險不同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95528" y="13075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不只要知道問題屬於哪個模組，也要理解該模組背後承載的是內容呈現、資料管理，還是流程與過帳邏輯。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86384" y="1627632"/>
            <a:ext cx="10625328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11680"/>
            <a:ext cx="3337560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011680"/>
            <a:ext cx="64008" cy="3246120"/>
          </a:xfrm>
          <a:prstGeom prst="rect">
            <a:avLst/>
          </a:prstGeom>
          <a:solidFill>
            <a:srgbClr val="F5B43B"/>
          </a:solidFill>
          <a:ln w="12700">
            <a:solidFill>
              <a:srgbClr val="F5B43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21284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B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WEB：前台內容架設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670048"/>
            <a:ext cx="2953512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・網站選單、頁面、公告、連結與內容維護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・重點是前台是否正確顯示、可讀、可檢測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・會牽涉 AA、SSR、CSR、多語系與 SEO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・需確認後台設定與前台 Route / 內容輸出一致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599432" y="2011680"/>
            <a:ext cx="3337560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011680"/>
            <a:ext cx="64008" cy="3246120"/>
          </a:xfrm>
          <a:prstGeom prst="rect">
            <a:avLst/>
          </a:prstGeom>
          <a:solidFill>
            <a:srgbClr val="6B55E7"/>
          </a:solidFill>
          <a:ln w="12700">
            <a:solidFill>
              <a:srgbClr val="6B55E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21284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B55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 / 金流：資料與過帳概念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70048"/>
            <a:ext cx="2953512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・不只是畫面維護，而是牽涉物件資料與流程結果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・可能會有類似 ERP 的過帳、狀態流轉與資料關聯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・需確認資料正確落地、可追蹤、不可誤改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</a:t>
            </a:r>
            <a:r>
              <a:rPr lang="en-US" sz="1220" dirty="0" err="1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未來會更重視權限、歷程與一致性</a:t>
            </a:r>
            <a:endParaRPr lang="en-US" sz="1220" dirty="0">
              <a:solidFill>
                <a:srgbClr val="13223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buNone/>
            </a:pPr>
            <a:endParaRPr lang="en-US" sz="1220" dirty="0">
              <a:solidFill>
                <a:srgbClr val="132238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220" b="1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</a:rPr>
              <a:t>這一模塊目前屬於剛起步的狀況</a:t>
            </a:r>
            <a:endParaRPr lang="en-US" sz="1220" b="1" dirty="0"/>
          </a:p>
        </p:txBody>
      </p:sp>
      <p:sp>
        <p:nvSpPr>
          <p:cNvPr id="14" name="Shape 12"/>
          <p:cNvSpPr/>
          <p:nvPr/>
        </p:nvSpPr>
        <p:spPr>
          <a:xfrm>
            <a:off x="8321040" y="2011680"/>
            <a:ext cx="3337560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64008" cy="3246120"/>
          </a:xfrm>
          <a:prstGeom prst="rect">
            <a:avLst/>
          </a:prstGeom>
          <a:solidFill>
            <a:srgbClr val="1FA564"/>
          </a:solidFill>
          <a:ln w="12700">
            <a:solidFill>
              <a:srgbClr val="1FA56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21284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A5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其他業務模組：待規劃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22208" y="2670048"/>
            <a:ext cx="2953512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・後續會依客戶需求逐步擴充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・新增模組需先判斷是公版、客製，還是 SysCore 擴充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・QA 紀錄要保留模組歸屬，方便回歸與 AI 分析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・尚未明確規劃的項目，先以風險與缺口記錄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554480" y="5806440"/>
            <a:ext cx="9098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3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核心思維：WEB 偏內容呈現；MAT / 金流偏資料與流程，兩者的 QA 測試深度不同。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786384" y="651967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8390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× QA / AI 協作簡報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390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SYSTEM MODULES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系統功能模組：成熟度要分清楚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有些是已在使用的基礎能力，有些仍不完善或尚未開始。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8745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實體檔案存取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035808" y="1874520"/>
            <a:ext cx="1060704" cy="292608"/>
          </a:xfrm>
          <a:prstGeom prst="rect">
            <a:avLst/>
          </a:prstGeom>
          <a:solidFill>
            <a:srgbClr val="2E9D60"/>
          </a:solidFill>
          <a:ln>
            <a:solidFill>
              <a:srgbClr val="2E9D6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使用中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4297680" y="185623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上傳、下載、路徑、檔案權限與弱掃風險需測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1024128" y="254203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035808" y="2542032"/>
            <a:ext cx="1060704" cy="292608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不完善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297680" y="2523744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可協助追錯，但資訊可能不足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024128" y="32095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操作日誌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035808" y="3209544"/>
            <a:ext cx="1060704" cy="292608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不完善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297680" y="3191256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操作軌跡與責任歸屬仍需補強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024128" y="38770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變更日誌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035808" y="3877056"/>
            <a:ext cx="1060704" cy="292608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尚未開始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297680" y="385876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資料異動前後差異尚未完整保存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024128" y="4544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環境健康狀況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3035808" y="4544568"/>
            <a:ext cx="1060704" cy="292608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尚未開始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297680" y="452628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服務、DB、Cache、磁碟監控尚待規劃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024128" y="52120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Docker / Redis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035808" y="5212080"/>
            <a:ext cx="1060704" cy="292608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未導入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297680" y="51937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部署一致性與快取架構為後續階段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可記錄風險，但要避免把「尚未開始」誤判成一般 bug。</a:t>
            </a:r>
            <a:endParaRPr lang="en-US" sz="18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FLOW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資料流與問題追查：畫面只是最後一層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前後分離下，畫面異常可能來自前端、API、後端、DB 或 Cache。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3355" y="2916936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87798" y="2916936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62242" y="2916936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36685" y="2916936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414016"/>
            <a:ext cx="1680667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578608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UI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78408" y="2926080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畫面 / 操作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070555" y="2414016"/>
            <a:ext cx="1680667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5419" y="2578608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Route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52851" y="2926080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CSR / SSR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244998" y="2414016"/>
            <a:ext cx="1680667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9862" y="2578608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327294" y="2926080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Request / Response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419442" y="2414016"/>
            <a:ext cx="1680667" cy="1005840"/>
          </a:xfrm>
          <a:prstGeom prst="round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4306" y="2578608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Backend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501738" y="2926080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 / 權限 / Cache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593885" y="2414016"/>
            <a:ext cx="1680667" cy="1005840"/>
          </a:xfrm>
          <a:prstGeom prst="round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8749" y="2578608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DB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676181" y="2926080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資料落地 / 查詢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" y="4352544"/>
            <a:ext cx="5230368" cy="15179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352544"/>
            <a:ext cx="82296" cy="1517904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489704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可先確認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50976" y="4873752"/>
            <a:ext cx="4882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・操作步驟是否穩定重現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・Network 是否有錯誤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・API 回傳訊息與狀態碼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・重整 / 重新登入後是否一致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6327648" y="4352544"/>
            <a:ext cx="5230368" cy="15179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4352544"/>
            <a:ext cx="82296" cy="1517904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489704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RD 後續會追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28816" y="4873752"/>
            <a:ext cx="4882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・Component / Hook / Loader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・API controller / service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・Mapping cache / 權限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・DB 資料與關聯</a:t>
            </a:r>
            <a:endParaRPr lang="en-US" sz="13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PRIORITY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目前測試優先順序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先把風險最高、最容易阻塞上線與驗收的項目排前面。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47088"/>
            <a:ext cx="420624" cy="420624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 AA / SSR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1435608" y="22311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Freego、鍵盤、Focus、原始 HTML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309360" y="1847088"/>
            <a:ext cx="420624" cy="420624"/>
          </a:xfrm>
          <a:prstGeom prst="rect">
            <a:avLst/>
          </a:prstGeom>
          <a:solidFill>
            <a:srgbClr val="276EF1"/>
          </a:solidFill>
          <a:ln>
            <a:solidFill>
              <a:srgbClr val="276EF1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76288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 CRUD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876288" y="22311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資料新增編修刪查、表單保存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68680" y="2962656"/>
            <a:ext cx="420624" cy="420624"/>
          </a:xfrm>
          <a:prstGeom prst="rect">
            <a:avLst/>
          </a:prstGeom>
          <a:solidFill>
            <a:srgbClr val="12B5A6"/>
          </a:solidFill>
          <a:ln>
            <a:solidFill>
              <a:srgbClr val="12B5A6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錯誤訊息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1435608" y="33467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後端驗證、Toast、欄位提示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309360" y="2962656"/>
            <a:ext cx="420624" cy="420624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76288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多語系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876288" y="33467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切換、fallback、Route、內容一致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68680" y="4078224"/>
            <a:ext cx="420624" cy="420624"/>
          </a:xfrm>
          <a:prstGeom prst="rect">
            <a:avLst/>
          </a:prstGeom>
          <a:solidFill>
            <a:srgbClr val="755CDE"/>
          </a:solidFill>
          <a:ln>
            <a:solidFill>
              <a:srgbClr val="755CD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35608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 / 登入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1435608" y="44622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JWT、角色、未授權、逾時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6309360" y="4078224"/>
            <a:ext cx="420624" cy="420624"/>
          </a:xfrm>
          <a:prstGeom prst="rect">
            <a:avLst/>
          </a:prstGeom>
          <a:solidFill>
            <a:srgbClr val="2E9D60"/>
          </a:solidFill>
          <a:ln>
            <a:solidFill>
              <a:srgbClr val="2E9D60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弱掃風險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6876288" y="44622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上傳、iframe、外部連結、注入風險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先測會阻塞驗收與上線的風險，再逐步擴大回歸範圍。</a:t>
            </a:r>
            <a:endParaRPr lang="en-US" sz="18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COLLABORATION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的工作定位：產生 AI 可解析的有效資料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重點不是叫 AI 取代 QA，而是讓 QA 的測試成果能被 AI 協助整理、比對與追查。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有效資料的特徵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・步驟明確，可以重現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・有環境、帳號角色、Route、模組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・有預期結果與實際結果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・有證據：截圖、影片、API response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可協助的事情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・問題分類與摘要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・產生回歸測項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・初步白箱影響範圍分析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・比對同類問題是否重複出現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的高價值輸出：不是「我測過」，而是「我留下可再次使用的證據」。</a:t>
            </a:r>
            <a:endParaRPr lang="en-US" sz="1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RECORD FORMAT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可解析的測試紀錄：建議欄位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欄位不一定一次到位，但越結構化，越能被 AI / RD / QA 重複使用。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1600200" cy="310896"/>
          </a:xfrm>
          <a:prstGeom prst="rect">
            <a:avLst/>
          </a:prstGeom>
          <a:solidFill>
            <a:srgbClr val="276EF1"/>
          </a:solidFill>
          <a:ln>
            <a:solidFill>
              <a:srgbClr val="276EF1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基本資訊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2788920" y="18196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日期、環境、瀏覽器、裝置、帳號角色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60120" y="2432304"/>
            <a:ext cx="1600200" cy="310896"/>
          </a:xfrm>
          <a:prstGeom prst="rect">
            <a:avLst/>
          </a:prstGeom>
          <a:solidFill>
            <a:srgbClr val="12B5A6"/>
          </a:solidFill>
          <a:ln>
            <a:solidFill>
              <a:srgbClr val="12B5A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功能位置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2788920" y="2423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模組、頁面、Route、功能名稱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60120" y="3035808"/>
            <a:ext cx="1600200" cy="310896"/>
          </a:xfrm>
          <a:prstGeom prst="rect">
            <a:avLst/>
          </a:prstGeom>
          <a:solidFill>
            <a:srgbClr val="276EF1"/>
          </a:solidFill>
          <a:ln>
            <a:solidFill>
              <a:srgbClr val="276EF1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測試類型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2788920" y="30266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/ CSR / API / AA / UI / 權限 / 多語系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60120" y="3639312"/>
            <a:ext cx="1600200" cy="310896"/>
          </a:xfrm>
          <a:prstGeom prst="rect">
            <a:avLst/>
          </a:prstGeom>
          <a:solidFill>
            <a:srgbClr val="12B5A6"/>
          </a:solidFill>
          <a:ln>
            <a:solidFill>
              <a:srgbClr val="12B5A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操作步驟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2788920" y="36301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1、Step 2、Step 3，不省略關鍵前置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60120" y="4242816"/>
            <a:ext cx="1600200" cy="310896"/>
          </a:xfrm>
          <a:prstGeom prst="rect">
            <a:avLst/>
          </a:prstGeom>
          <a:solidFill>
            <a:srgbClr val="276EF1"/>
          </a:solidFill>
          <a:ln>
            <a:solidFill>
              <a:srgbClr val="276EF1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預期 / 實際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2788920" y="4233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正常應發生什麼；實際發生什麼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1600200" cy="310896"/>
          </a:xfrm>
          <a:prstGeom prst="rect">
            <a:avLst/>
          </a:prstGeom>
          <a:solidFill>
            <a:srgbClr val="12B5A6"/>
          </a:solidFill>
          <a:ln>
            <a:solidFill>
              <a:srgbClr val="12B5A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證據與影響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2788920" y="483717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截圖、影片、console、API response、影響範圍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缺少結構的紀錄，很難回歸；有結構的紀錄，才有機會形成測試資產。</a:t>
            </a:r>
            <a:endParaRPr lang="en-US" sz="18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ISSUE TEMPLATE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問題回報模板：讓 RD 與 AI 都看得懂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回報越清楚，修正與回歸越快。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必要資訊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・標題：模組 + 功能 + 異常現象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・環境：測試站 / 瀏覽器 / 裝置 / 帳號角色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・位置：前台或後台、Route、頁面名稱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・步驟：逐步描述，不跳步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判斷資訊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・預期結果 / 實際結果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・是否 SSR / CSR 都重現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・Console / Network / API response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・影響：AA、權限、資料、語系、弱掃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初步懷疑方向可以寫，但要標註為「懷疑」，不要當成結論。</a:t>
            </a:r>
            <a:endParaRPr lang="en-US" sz="18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WHITE-BOX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可協助的白箱初步檢查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適合先做「範圍縮小與規則比對」，但不等於最後驗證。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適合協助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・Source code 初步掃描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・API payload / response 結構比對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・Route / Loader / Component 關聯追蹤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・TypeScript 型別風險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・Toast / 驗證流程是否集中處理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產出應該是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・可能原因清單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・影響範圍建議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・需要人工驗證的測項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・可回歸的測試步驟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・不是直接當正式結論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白箱檢查的價值：先縮小範圍，讓 RD / QA 少走冤枉路。</a:t>
            </a:r>
            <a:endParaRPr lang="en-US" sz="18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TEST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仍需人工保留的測試範圍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越接近使用者感受、瀏覽器實際行為與 AA 操作體感，越需要人工確認。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 QA 很重要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・操作手感是否順暢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・Focus 順序是否自然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・鍵盤能否完整操作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・RWD 視覺與閱讀順序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・跨瀏覽器實際行為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不應取代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・UX 主觀判斷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・Freego 實際檢測結果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・檔案上傳下載體驗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・影片 / iframe / 外部資源互動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・客戶情境與流程合理性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協助分析，人工負責驗證真實體驗。</a:t>
            </a:r>
            <a:endParaRPr lang="en-US" sz="18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REGRESSION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回歸測試策略：從「案例」累積成「規則」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修一個 bug 不只重測該畫面，也要評估是否影響共用層與同類功能。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3355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87798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62242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36685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267712"/>
            <a:ext cx="1680667" cy="1005840"/>
          </a:xfrm>
          <a:prstGeom prst="round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Bug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78408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發現問題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070555" y="2267712"/>
            <a:ext cx="1680667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5419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Classify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52851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歸類層級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Spec / Feature / SysCore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244998" y="2267712"/>
            <a:ext cx="1680667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9862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Fix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327294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RD 修正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419442" y="2267712"/>
            <a:ext cx="1680667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4306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Regression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501738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同類功能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回歸驗證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593885" y="2267712"/>
            <a:ext cx="1680667" cy="1005840"/>
          </a:xfrm>
          <a:prstGeom prst="roundRect">
            <a:avLst/>
          </a:prstGeom>
          <a:solidFill>
            <a:srgbClr val="2E9D60"/>
          </a:solidFill>
          <a:ln w="12700">
            <a:solidFill>
              <a:srgbClr val="2E9D6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8749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Rule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676181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補成測試規則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251960"/>
            <a:ext cx="82296" cy="16276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個案回歸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5097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・只影響單一頁面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・測原始步驟即可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・補一筆案例測項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632764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4251960"/>
            <a:ext cx="82296" cy="162763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共用層回歸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2881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・影響多個模組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・測同模板 / 同元件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・補成規則而非單點案例</a:t>
            </a:r>
            <a:endParaRPr lang="en-US" sz="13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RULES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測試規則應該逐步沉澱成可重用資料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規則比單次測試更重要，因為它能被 AI 轉成檢查清單、白箱條件與回歸測項。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47088"/>
            <a:ext cx="82296" cy="33101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測試規則範例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95097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・前台 route 必須直接輸入網址可開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・表單 required 錯誤需在欄位層提示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・API 保存失敗需出現可理解訊息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・列表資料新增後必須查得到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327648" y="1847088"/>
            <a:ext cx="5230368" cy="3310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847088"/>
            <a:ext cx="82296" cy="3310128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9842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規則要能描述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28816" y="2368296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・適用模組 / 頁面類型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・前置條件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・操作步驟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・通過標準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・是否可用 AI 初步白箱檢查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越能規則化的測試，越應該讓 AI 協助產生與複查。</a:t>
            </a:r>
            <a:endParaRPr lang="en-US" sz="18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AREA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目前已知尚未完善區與測試注意事項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這些區域需要被記錄，但不要在一開始把它們當成所有測試的阻塞點。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653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2880360" y="1865376"/>
            <a:ext cx="1060704" cy="292608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不完善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4142232" y="184708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錯誤資訊可能不足，QA 要多保留畫面與 API 證據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68680" y="25328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操作日誌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880360" y="2532888"/>
            <a:ext cx="1060704" cy="292608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不完善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142232" y="251460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若操作追蹤不足，需記錄帳號、時間、操作步驟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868680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變更日誌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2880360" y="3200400"/>
            <a:ext cx="1060704" cy="292608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尚未開始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142232" y="318211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資料異動前後比較尚待設計，不作為現階段必驗項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68680" y="38679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健康檢查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880360" y="3867912"/>
            <a:ext cx="1060704" cy="292608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尚未開始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142232" y="3849624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環境異常目前較依賴人工觀察與 RD 判斷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68680" y="45354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Docker / Redis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880360" y="4535424"/>
            <a:ext cx="1060704" cy="292608"/>
          </a:xfrm>
          <a:prstGeom prst="rect">
            <a:avLst/>
          </a:prstGeom>
          <a:solidFill>
            <a:srgbClr val="E4572E"/>
          </a:solidFill>
          <a:ln>
            <a:solidFill>
              <a:srgbClr val="E4572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未導入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142232" y="4517136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暫時不以容器化與 Redis 快取行為作為驗收基準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914400" y="5907024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3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要協助把風險可視化，但也要分清「缺口」與「bug」。</a:t>
            </a:r>
            <a:endParaRPr lang="en-US" sz="18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TRIAGE FLOW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問題分流：先把資訊補齊，再決定修正優先順序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人力有限時，問題分流比單純開一堆 bug 更重要。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3355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87798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62242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36685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267712"/>
            <a:ext cx="1680667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Report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78408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回報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附證據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070555" y="2267712"/>
            <a:ext cx="1680667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5419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Triage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52851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分類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 / 後台 / API / 環境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244998" y="2267712"/>
            <a:ext cx="1680667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9862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327294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判斷影響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 / SSR / 權限 / 資料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419442" y="2267712"/>
            <a:ext cx="1680667" cy="1005840"/>
          </a:xfrm>
          <a:prstGeom prst="round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4306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Fix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501738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RD 修正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或排入待辦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593885" y="2267712"/>
            <a:ext cx="1680667" cy="1005840"/>
          </a:xfrm>
          <a:prstGeom prst="roundRect">
            <a:avLst/>
          </a:prstGeom>
          <a:solidFill>
            <a:srgbClr val="2E9D60"/>
          </a:solidFill>
          <a:ln w="12700">
            <a:solidFill>
              <a:srgbClr val="2E9D6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8749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Verify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676181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複驗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補回歸測項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251960"/>
            <a:ext cx="82296" cy="16276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高優先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5097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・阻塞上線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・AA / SSR / 權限 / 資料錯誤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・會造成資料遺失或錯誤保存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632764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4251960"/>
            <a:ext cx="82296" cy="162763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可排程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2881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・不影響主要流程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・純視覺微調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・尚未開始的設計缺口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・低機率或難重現問題</a:t>
            </a:r>
            <a:endParaRPr lang="en-US" sz="13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ERP MINDSET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邁向 ERP 的測試思維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CMS 測的是內容與呈現；ERP 型系統更重視流程、狀態、權限、資料與歷程。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3355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87798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62242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36685" y="2770632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267712"/>
            <a:ext cx="1680667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78408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頁面顯示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內容正確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070555" y="2267712"/>
            <a:ext cx="1680667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5419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Flow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52851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流程節點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狀態流轉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244998" y="2267712"/>
            <a:ext cx="1680667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9862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327294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關聯資料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一致性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419442" y="2267712"/>
            <a:ext cx="1680667" cy="1005840"/>
          </a:xfrm>
          <a:prstGeom prst="round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4306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Auth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501738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角色權限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可見可做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593885" y="2267712"/>
            <a:ext cx="1680667" cy="1005840"/>
          </a:xfrm>
          <a:prstGeom prst="round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8749" y="2432304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History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676181" y="2779776"/>
            <a:ext cx="1516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異動歷程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可追蹤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251960"/>
            <a:ext cx="82296" cy="16276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CMS 測試常問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5097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・頁面有沒有顯示？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・內容是否正確？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・前台是否可讀？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6327648" y="4251960"/>
            <a:ext cx="5230368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4251960"/>
            <a:ext cx="82296" cy="162763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38912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ERP 測試會多問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28816" y="47731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・誰可以做？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・做完狀態怎麼變？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・資料關聯是否一致？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・歷程是否可追蹤？</a:t>
            </a:r>
            <a:endParaRPr lang="en-US" sz="13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ONBOARDING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 QA 初期建議切入順序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先從可觀察、可重現、可累積的區域開始，不要一開始就被所有模組淹沒。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459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WCMS × QA / AI 協作簡報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290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6966" y="2898648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75020" y="2898648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93074" y="2898648"/>
            <a:ext cx="420624" cy="0"/>
          </a:xfrm>
          <a:prstGeom prst="line">
            <a:avLst/>
          </a:prstGeom>
          <a:noFill/>
          <a:ln w="15240">
            <a:solidFill>
              <a:srgbClr val="B7C5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" y="2395728"/>
            <a:ext cx="2224278" cy="1005840"/>
          </a:xfrm>
          <a:prstGeom prst="round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560320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78408" y="2907792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前台 AA / SSR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觀念與案例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614166" y="2395728"/>
            <a:ext cx="2224278" cy="1005840"/>
          </a:xfrm>
          <a:prstGeom prst="roundRect">
            <a:avLst/>
          </a:prstGeom>
          <a:solidFill>
            <a:srgbClr val="12B5A6"/>
          </a:solidFill>
          <a:ln w="12700">
            <a:solidFill>
              <a:srgbClr val="12B5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9030" y="2560320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696462" y="2907792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後台 CRUD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表單與 API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332220" y="2395728"/>
            <a:ext cx="2224278" cy="1005840"/>
          </a:xfrm>
          <a:prstGeom prst="roundRect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7084" y="2560320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414516" y="2907792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模組分層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回歸規則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9050274" y="2395728"/>
            <a:ext cx="2224278" cy="1005840"/>
          </a:xfrm>
          <a:prstGeom prst="roundRect">
            <a:avLst/>
          </a:prstGeom>
          <a:solidFill>
            <a:srgbClr val="755CDE"/>
          </a:solidFill>
          <a:ln w="12700">
            <a:solidFill>
              <a:srgbClr val="755C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138" y="2560320"/>
            <a:ext cx="2114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4+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132570" y="2907792"/>
            <a:ext cx="2059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ERP 型流程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E9F0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資料與權限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60120" y="4572000"/>
            <a:ext cx="10241280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572000"/>
            <a:ext cx="82296" cy="84124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4709160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6EF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初期不要急著一次測完所有東西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1161288" y="5093208"/>
            <a:ext cx="9893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先建立固定回報格式、掌握前台 SSR / AA 與後台 CRUD，再逐步擴大到模組與流程。</a:t>
            </a:r>
            <a:endParaRPr lang="en-US" sz="14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結語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QA 協作重點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B5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7276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先掌握 CMS 前台檢測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72768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D5E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AA、SSR、CSR、RWD、多語系與弱掃風險。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B7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72768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再理解後台資料維護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D5E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CRUD、API、Toast、權限、Cache、資料一致性。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72768" y="4553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最後銜接 ERP 流程測試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72768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D5E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流程、狀態、權限、歷程與資料治理。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46634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在人力稀缺下，QA 的每一次測試都要盡量留下能被 AI / RD / QA 重複使用的品質資產。</a:t>
            </a:r>
            <a:endParaRPr lang="en-US" sz="2020" dirty="0"/>
          </a:p>
        </p:txBody>
      </p:sp>
      <p:sp>
        <p:nvSpPr>
          <p:cNvPr id="14" name="Text 12"/>
          <p:cNvSpPr/>
          <p:nvPr/>
        </p:nvSpPr>
        <p:spPr>
          <a:xfrm>
            <a:off x="6446520" y="4681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dirty="0">
                <a:solidFill>
                  <a:srgbClr val="C8D5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Next：把簡報內容轉成測試規則、Issue Template、回歸測項表。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11018520" y="58064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AB8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2724</Words>
  <Application>Microsoft Office PowerPoint</Application>
  <PresentationFormat>寬螢幕</PresentationFormat>
  <Paragraphs>703</Paragraphs>
  <Slides>33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8" baseType="lpstr">
      <vt:lpstr>Noto Sans CJK TC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WCMS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WCMS 系統現況與 QA / AI 協作簡報：詳細版</dc:title>
  <dc:subject>WCMS 系統現況與 QA / AI 協作簡報：詳細版</dc:subject>
  <dc:creator>OpenAI</dc:creator>
  <cp:lastModifiedBy>IT-013</cp:lastModifiedBy>
  <cp:revision>9</cp:revision>
  <dcterms:created xsi:type="dcterms:W3CDTF">2026-06-15T07:40:11Z</dcterms:created>
  <dcterms:modified xsi:type="dcterms:W3CDTF">2026-06-16T06:50:14Z</dcterms:modified>
</cp:coreProperties>
</file>