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e39c84534_2_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ee39c84534_2_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e39c84534_2_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e39c84534_2_1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ee39c84534_2_1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e39c84534_2_1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e39c84534_2_3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ee39c84534_2_3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e39c84534_2_3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e39c84534_2_6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ee39c84534_2_6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e39c84534_2_6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e39c84534_2_8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ee39c84534_2_8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e39c84534_2_8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e39c84534_2_11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e39c84534_2_11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e39c84534_2_11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e39c84534_2_13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e39c84534_2_13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e39c84534_2_13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e39c84534_2_14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ee39c84534_2_14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ee39c84534_2_14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e39c84534_2_20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ee39c84534_2_20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e39c84534_2_20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e39c84534_2_22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ee39c84534_2_22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e39c84534_2_22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e39c84534_2_24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ee39c84534_2_24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ee39c84534_2_24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e39c84534_2_27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ee39c84534_2_27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ee39c84534_2_27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493789" y="493776"/>
            <a:ext cx="946429" cy="233172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WCMS v0.1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493789" y="1062990"/>
            <a:ext cx="4663564" cy="1062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zh-TW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 / RD / AI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zh-TW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協作流程說明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521222" y="2297430"/>
            <a:ext cx="4183492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100"/>
              <a:buFont typeface="Arial"/>
              <a:buNone/>
            </a:pPr>
            <a:r>
              <a:rPr b="0" i="0" lang="zh-TW" sz="110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從 Issue 開單、PR 修正、QA 複驗到 AI 知識沉澱，建立可追蹤、可複驗、可累積的缺失處理流程。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5486546" y="891540"/>
            <a:ext cx="877847" cy="685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探索與複驗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6686728" y="1783080"/>
            <a:ext cx="877847" cy="685800"/>
          </a:xfrm>
          <a:prstGeom prst="rect">
            <a:avLst/>
          </a:prstGeom>
          <a:solidFill>
            <a:srgbClr val="8B5CF6"/>
          </a:solidFill>
          <a:ln cap="flat" cmpd="sng" w="9525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修正與PR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7886910" y="2674620"/>
            <a:ext cx="877847" cy="685800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查重與總結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16"/>
          <p:cNvCxnSpPr/>
          <p:nvPr/>
        </p:nvCxnSpPr>
        <p:spPr>
          <a:xfrm>
            <a:off x="6364394" y="1234440"/>
            <a:ext cx="322335" cy="740664"/>
          </a:xfrm>
          <a:prstGeom prst="straightConnector1">
            <a:avLst/>
          </a:prstGeom>
          <a:noFill/>
          <a:ln cap="flat" cmpd="sng" w="17775">
            <a:solidFill>
              <a:srgbClr val="9CC9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" name="Google Shape;65;p16"/>
          <p:cNvCxnSpPr/>
          <p:nvPr/>
        </p:nvCxnSpPr>
        <p:spPr>
          <a:xfrm>
            <a:off x="7564576" y="2125980"/>
            <a:ext cx="322335" cy="740664"/>
          </a:xfrm>
          <a:prstGeom prst="straightConnector1">
            <a:avLst/>
          </a:prstGeom>
          <a:noFill/>
          <a:ln cap="flat" cmpd="sng" w="17775">
            <a:solidFill>
              <a:srgbClr val="9CC9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p16"/>
          <p:cNvSpPr/>
          <p:nvPr/>
        </p:nvSpPr>
        <p:spPr>
          <a:xfrm>
            <a:off x="534938" y="4443984"/>
            <a:ext cx="445781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主軸：開單流程 × 測項分類 × 欄位責任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本版文件定位：不是規定 QA，而是讓問題可以被修、被複驗、被累積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17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7"/>
          <p:cNvSpPr/>
          <p:nvPr/>
        </p:nvSpPr>
        <p:spPr>
          <a:xfrm>
            <a:off x="493789" y="1062990"/>
            <a:ext cx="41149" cy="7955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576087" y="1062990"/>
            <a:ext cx="2420939" cy="795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目標 1｜降低反覆確認成本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Issue 需要足夠重現資訊，讓 RD 不必來回追問。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319360" y="1062990"/>
            <a:ext cx="41149" cy="79552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3401659" y="1062990"/>
            <a:ext cx="2420939" cy="795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目標 2｜讓 PR 成為技術紀錄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RD 修正時留下根源、修改內容與後續注意事項。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6138074" y="1062990"/>
            <a:ext cx="41149" cy="79552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6220372" y="1062990"/>
            <a:ext cx="2420939" cy="795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目標 3｜讓 AI 可讀、可總結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Issue + PR + diff + 複驗結果，形成可重用知識。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17"/>
          <p:cNvCxnSpPr/>
          <p:nvPr/>
        </p:nvCxnSpPr>
        <p:spPr>
          <a:xfrm>
            <a:off x="788691" y="2468880"/>
            <a:ext cx="7509710" cy="0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" name="Google Shape;82;p17"/>
          <p:cNvSpPr/>
          <p:nvPr/>
        </p:nvSpPr>
        <p:spPr>
          <a:xfrm>
            <a:off x="562371" y="2167128"/>
            <a:ext cx="973862" cy="58978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問題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QA 發現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080619" y="2167128"/>
            <a:ext cx="973862" cy="589788"/>
          </a:xfrm>
          <a:prstGeom prst="rect">
            <a:avLst/>
          </a:prstGeom>
          <a:solidFill>
            <a:srgbClr val="8B5CF6"/>
          </a:solidFill>
          <a:ln cap="flat" cmpd="sng" w="9525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修正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RD PR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7578292" y="2167128"/>
            <a:ext cx="973862" cy="589788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知識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AI 沉澱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788691" y="3497580"/>
            <a:ext cx="7475419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這份 v0.1 只定義「合作節點與最低紀錄」，不奪走 QA 的測試主導權。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440218" y="4073652"/>
            <a:ext cx="6172365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第一版足夠啟動；後續跑過 5–10 張 Issue 再調整欄位與模板。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開單流程：Issue → PR → 複驗 → AI 總結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8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8"/>
          <p:cNvCxnSpPr/>
          <p:nvPr/>
        </p:nvCxnSpPr>
        <p:spPr>
          <a:xfrm>
            <a:off x="1351062" y="1707642"/>
            <a:ext cx="329193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18"/>
          <p:cNvCxnSpPr/>
          <p:nvPr/>
        </p:nvCxnSpPr>
        <p:spPr>
          <a:xfrm>
            <a:off x="2606109" y="1707642"/>
            <a:ext cx="329193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18"/>
          <p:cNvCxnSpPr/>
          <p:nvPr/>
        </p:nvCxnSpPr>
        <p:spPr>
          <a:xfrm>
            <a:off x="3861157" y="1707642"/>
            <a:ext cx="329193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18"/>
          <p:cNvCxnSpPr/>
          <p:nvPr/>
        </p:nvCxnSpPr>
        <p:spPr>
          <a:xfrm>
            <a:off x="5116204" y="1707642"/>
            <a:ext cx="329193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18"/>
          <p:cNvCxnSpPr/>
          <p:nvPr/>
        </p:nvCxnSpPr>
        <p:spPr>
          <a:xfrm>
            <a:off x="6371252" y="1707642"/>
            <a:ext cx="329193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18"/>
          <p:cNvSpPr/>
          <p:nvPr/>
        </p:nvSpPr>
        <p:spPr>
          <a:xfrm>
            <a:off x="425207" y="1405890"/>
            <a:ext cx="925855" cy="60350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探索問題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1680255" y="1405890"/>
            <a:ext cx="925855" cy="60350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Issue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開單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2935302" y="1405890"/>
            <a:ext cx="925855" cy="603504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查重/補資料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190350" y="1405890"/>
            <a:ext cx="925855" cy="603504"/>
          </a:xfrm>
          <a:prstGeom prst="rect">
            <a:avLst/>
          </a:prstGeom>
          <a:solidFill>
            <a:srgbClr val="8B5CF6"/>
          </a:solidFill>
          <a:ln cap="flat" cmpd="sng" w="9525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修正 PR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5445397" y="1405890"/>
            <a:ext cx="925855" cy="603504"/>
          </a:xfrm>
          <a:prstGeom prst="rect">
            <a:avLst/>
          </a:prstGeom>
          <a:solidFill>
            <a:srgbClr val="F59E0B"/>
          </a:solidFill>
          <a:ln cap="flat" cmpd="sng" w="9525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複驗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6700445" y="1405890"/>
            <a:ext cx="925855" cy="603504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總結沉澱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0073" y="2606040"/>
            <a:ext cx="41149" cy="94640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562371" y="2606040"/>
            <a:ext cx="1783128" cy="9464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QA 開單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留下完整說明、操作步驟、預期與實際結果；測項類型可先標探索式。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2619826" y="2606040"/>
            <a:ext cx="41149" cy="9464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2702124" y="2606040"/>
            <a:ext cx="1783128" cy="9464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RD 修正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 關聯 Issue，補問題根源、修改內容、後續注意事項。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759579" y="2606040"/>
            <a:ext cx="41149" cy="9464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841877" y="2606040"/>
            <a:ext cx="1783128" cy="9464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QA 複驗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成功就關單；失敗就退單並補新的實際結果與附件。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892474" y="2606040"/>
            <a:ext cx="41149" cy="94640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6974772" y="2606040"/>
            <a:ext cx="1783128" cy="9464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知識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讀 Issue + PR + diff + 複驗，歸納測項與注意事項。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720109" y="4238244"/>
            <a:ext cx="7715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補充規範：需要 GitHub Issue / PR 模板、Label 命名、QA 複驗留言格式、AI 總結格式。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2935325" y="2009400"/>
            <a:ext cx="925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3C78D8"/>
                </a:solidFill>
              </a:rPr>
              <a:t>由QA協助</a:t>
            </a:r>
            <a:endParaRPr sz="800">
              <a:solidFill>
                <a:srgbClr val="3C78D8"/>
              </a:solidFill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6700475" y="2009400"/>
            <a:ext cx="925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3C78D8"/>
                </a:solidFill>
              </a:rPr>
              <a:t>由RD協助</a:t>
            </a:r>
            <a:endParaRPr sz="800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角色責任：每個節點留下剛好足夠的資料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19"/>
          <p:cNvSpPr/>
          <p:nvPr/>
        </p:nvSpPr>
        <p:spPr>
          <a:xfrm>
            <a:off x="514364" y="1062990"/>
            <a:ext cx="41149" cy="14401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596662" y="1062990"/>
            <a:ext cx="1735120" cy="14401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探索問題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開 Issue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初步測項分類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複驗 / 退單 / 關單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2551244" y="1062990"/>
            <a:ext cx="41149" cy="144018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2633542" y="1062990"/>
            <a:ext cx="1735120" cy="14401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判斷技術歸屬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修正與 PR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根源與修改說明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影響範圍與可行性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588124" y="1062990"/>
            <a:ext cx="41149" cy="14401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4670422" y="1062990"/>
            <a:ext cx="1735120" cy="14401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Issue 查重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整理欄位與文字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分析 PR / diff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總結與測項沉澱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625005" y="1062990"/>
            <a:ext cx="41149" cy="14401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6707303" y="1062990"/>
            <a:ext cx="1735120" cy="14401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協作窗口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排優先序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確認狀態收斂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挑選重要案例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維護題庫 / 知識庫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48655" y="3051810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i="0" lang="zh-TW" sz="15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責任邊界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62371" y="3429000"/>
            <a:ext cx="8024074" cy="39776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zh-TW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QA 不需要先判斷技術根因；RD 不干涉 QA 的測試主導權。AI 用來降低整理與查重成本，不取代人工複驗。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測項類型與重點：QA 先探索，AI 先掃風險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20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20"/>
          <p:cNvSpPr/>
          <p:nvPr/>
        </p:nvSpPr>
        <p:spPr>
          <a:xfrm>
            <a:off x="493789" y="1117854"/>
            <a:ext cx="288044" cy="233172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877847" y="1062990"/>
            <a:ext cx="1405927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回歸測試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2400364" y="1062990"/>
            <a:ext cx="59666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確認修正沒有破壞既有功能；已修正 bug 最終要判斷是否納入。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20"/>
          <p:cNvCxnSpPr/>
          <p:nvPr/>
        </p:nvCxnSpPr>
        <p:spPr>
          <a:xfrm>
            <a:off x="493789" y="1501902"/>
            <a:ext cx="8092656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0"/>
          <p:cNvSpPr/>
          <p:nvPr/>
        </p:nvSpPr>
        <p:spPr>
          <a:xfrm>
            <a:off x="493789" y="1693926"/>
            <a:ext cx="288044" cy="233172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877847" y="1639062"/>
            <a:ext cx="1405927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探索式測試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2400364" y="1639062"/>
            <a:ext cx="59666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CC0000"/>
                </a:solidFill>
              </a:rPr>
              <a:t>QA 主力人工執行，用真實操作找測項外問題。</a:t>
            </a:r>
            <a:endParaRPr b="1" i="0" sz="900" u="none" cap="none" strike="noStrike">
              <a:solidFill>
                <a:srgbClr val="CC0000"/>
              </a:solidFill>
            </a:endParaRPr>
          </a:p>
        </p:txBody>
      </p:sp>
      <p:cxnSp>
        <p:nvCxnSpPr>
          <p:cNvPr id="153" name="Google Shape;153;p20"/>
          <p:cNvCxnSpPr/>
          <p:nvPr/>
        </p:nvCxnSpPr>
        <p:spPr>
          <a:xfrm>
            <a:off x="493789" y="2077974"/>
            <a:ext cx="8092656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20"/>
          <p:cNvSpPr/>
          <p:nvPr/>
        </p:nvSpPr>
        <p:spPr>
          <a:xfrm>
            <a:off x="493789" y="2269998"/>
            <a:ext cx="288044" cy="233172"/>
          </a:xfrm>
          <a:prstGeom prst="rect">
            <a:avLst/>
          </a:prstGeom>
          <a:solidFill>
            <a:srgbClr val="8B5CF6"/>
          </a:solidFill>
          <a:ln cap="flat" cmpd="sng" w="9525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877847" y="2215134"/>
            <a:ext cx="1405927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邊界值測試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2400364" y="2215134"/>
            <a:ext cx="59666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欄位、表單、日期、檔案、URL、多語系等極限值。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20"/>
          <p:cNvCxnSpPr/>
          <p:nvPr/>
        </p:nvCxnSpPr>
        <p:spPr>
          <a:xfrm>
            <a:off x="493789" y="2654046"/>
            <a:ext cx="8092656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20"/>
          <p:cNvSpPr/>
          <p:nvPr/>
        </p:nvSpPr>
        <p:spPr>
          <a:xfrm>
            <a:off x="493789" y="2846070"/>
            <a:ext cx="288044" cy="233172"/>
          </a:xfrm>
          <a:prstGeom prst="rect">
            <a:avLst/>
          </a:prstGeom>
          <a:solidFill>
            <a:srgbClr val="F59E0B"/>
          </a:solidFill>
          <a:ln cap="flat" cmpd="sng" w="9525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877847" y="2791206"/>
            <a:ext cx="1405927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例外流程測試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400364" y="2791206"/>
            <a:ext cx="59666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錯誤操作、權限、API 錯誤、資料被引用等。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93789" y="3230118"/>
            <a:ext cx="8092656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20"/>
          <p:cNvSpPr/>
          <p:nvPr/>
        </p:nvSpPr>
        <p:spPr>
          <a:xfrm>
            <a:off x="493789" y="3422142"/>
            <a:ext cx="288044" cy="233172"/>
          </a:xfrm>
          <a:prstGeom prst="rect">
            <a:avLst/>
          </a:prstGeom>
          <a:solidFill>
            <a:srgbClr val="EF4444"/>
          </a:solidFill>
          <a:ln cap="flat" cmpd="sng" w="9525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77847" y="3367278"/>
            <a:ext cx="1405927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相容性測試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400364" y="3367278"/>
            <a:ext cx="59666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瀏覽器、手機、LINE 內建瀏覽器；源碼可先抓風險，實機仍需確認。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493789" y="3806190"/>
            <a:ext cx="8092656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20"/>
          <p:cNvSpPr/>
          <p:nvPr/>
        </p:nvSpPr>
        <p:spPr>
          <a:xfrm>
            <a:off x="617236" y="4114800"/>
            <a:ext cx="7955492" cy="288036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Arial"/>
              <a:buNone/>
            </a:pPr>
            <a:r>
              <a:rPr b="1" i="0" lang="zh-TW" sz="10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原則：任何類型發現的有效 BUG，在修正且複驗成功後，都要判斷是否新增 / 補強回歸測項。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協作位置：查重、讀 PR、整理測項，而不是取代人工判斷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21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21"/>
          <p:cNvSpPr/>
          <p:nvPr/>
        </p:nvSpPr>
        <p:spPr>
          <a:xfrm>
            <a:off x="685818" y="1110996"/>
            <a:ext cx="1371637" cy="589788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開單後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查重 / 補資料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3874873" y="1110996"/>
            <a:ext cx="1371637" cy="589788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 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風險 / 複驗建議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7029637" y="1110996"/>
            <a:ext cx="1371637" cy="589788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關單後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總結 / 測項沉澱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21"/>
          <p:cNvCxnSpPr/>
          <p:nvPr/>
        </p:nvCxnSpPr>
        <p:spPr>
          <a:xfrm>
            <a:off x="2057455" y="1405890"/>
            <a:ext cx="1817418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21"/>
          <p:cNvCxnSpPr/>
          <p:nvPr/>
        </p:nvCxnSpPr>
        <p:spPr>
          <a:xfrm>
            <a:off x="5246510" y="1405890"/>
            <a:ext cx="1783128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21"/>
          <p:cNvSpPr/>
          <p:nvPr/>
        </p:nvSpPr>
        <p:spPr>
          <a:xfrm>
            <a:off x="514364" y="2180844"/>
            <a:ext cx="41149" cy="94640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596662" y="2180844"/>
            <a:ext cx="2386648" cy="9464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初步查重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搜尋類似 Issue、既有回歸測項與已知風險；提醒欄位是否不足。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339935" y="2180844"/>
            <a:ext cx="41149" cy="94640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3422233" y="2180844"/>
            <a:ext cx="2386648" cy="9464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讀 PR / diff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協助整理修改點、可能影響範圍、建議複驗方向。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6158648" y="2180844"/>
            <a:ext cx="41149" cy="94640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6240946" y="2180844"/>
            <a:ext cx="2386648" cy="9464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最終總結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輸出 Bug 摘要、根本原因、修正方式、回歸測項與後續注意。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754400" y="3943350"/>
            <a:ext cx="7544001" cy="288036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可用程度需要明確標記，避免把「源碼可推估」誤認為「已實機驗證」。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源碼檢測可行性：三種狀態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22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22"/>
          <p:cNvSpPr/>
          <p:nvPr/>
        </p:nvSpPr>
        <p:spPr>
          <a:xfrm>
            <a:off x="582946" y="1131570"/>
            <a:ext cx="41149" cy="156362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665244" y="1131570"/>
            <a:ext cx="2352357" cy="1563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完全可行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可透過 source code、API response、資料流或 PR diff 明確判斷。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例：欄位名稱對不上、Toast hook 流程錯。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3346793" y="1131570"/>
            <a:ext cx="41149" cy="156362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3429091" y="1131570"/>
            <a:ext cx="2352357" cy="1563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部分可行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 可先推估風險，但仍需要人工操作或環境確認。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例：SSR route、權限流程、檔案上傳。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6103783" y="1131570"/>
            <a:ext cx="41149" cy="156362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6186081" y="1131570"/>
            <a:ext cx="2352357" cy="1563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需人工體感 / 實機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主要依靠畫面感受、裝置、瀏覽器或操作體驗。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例：LINE 內建瀏覽器、手機滑動、焦點體感。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651527" y="3346704"/>
            <a:ext cx="106301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欄位目的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1817418" y="3312414"/>
            <a:ext cx="6549565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zh-TW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讓 QA / RD / AI 清楚知道：這張單能靠 AI 先掃到什麼、哪些仍需人工複驗或實機確認。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7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開單資訊欄位 v0.1：11 欄足夠啟動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23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3"/>
          <p:cNvSpPr/>
          <p:nvPr/>
        </p:nvSpPr>
        <p:spPr>
          <a:xfrm>
            <a:off x="507506" y="973836"/>
            <a:ext cx="685818" cy="19202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 起單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14364" y="1303020"/>
            <a:ext cx="288044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898422" y="1248156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單號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2126037" y="1248156"/>
            <a:ext cx="21603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Issue / Mantis 自動產生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3"/>
          <p:cNvCxnSpPr/>
          <p:nvPr/>
        </p:nvCxnSpPr>
        <p:spPr>
          <a:xfrm>
            <a:off x="514364" y="1591056"/>
            <a:ext cx="3874873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23"/>
          <p:cNvSpPr/>
          <p:nvPr/>
        </p:nvSpPr>
        <p:spPr>
          <a:xfrm>
            <a:off x="514364" y="1755648"/>
            <a:ext cx="288044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898422" y="1700784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測項類型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2126037" y="1700784"/>
            <a:ext cx="21603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探索、回歸、邊界、例外、相容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23"/>
          <p:cNvCxnSpPr/>
          <p:nvPr/>
        </p:nvCxnSpPr>
        <p:spPr>
          <a:xfrm>
            <a:off x="514364" y="2043684"/>
            <a:ext cx="3874873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23"/>
          <p:cNvSpPr/>
          <p:nvPr/>
        </p:nvSpPr>
        <p:spPr>
          <a:xfrm>
            <a:off x="514364" y="2208276"/>
            <a:ext cx="288044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898422" y="2153412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標題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2126037" y="2153412"/>
            <a:ext cx="21603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一句話描述問題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23"/>
          <p:cNvCxnSpPr/>
          <p:nvPr/>
        </p:nvCxnSpPr>
        <p:spPr>
          <a:xfrm>
            <a:off x="514364" y="2496312"/>
            <a:ext cx="3874873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23"/>
          <p:cNvSpPr/>
          <p:nvPr/>
        </p:nvSpPr>
        <p:spPr>
          <a:xfrm>
            <a:off x="514364" y="2660904"/>
            <a:ext cx="288044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898422" y="2606040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內容與步驟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2126037" y="2606040"/>
            <a:ext cx="21603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含預期、實際、環境、附件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23"/>
          <p:cNvCxnSpPr/>
          <p:nvPr/>
        </p:nvCxnSpPr>
        <p:spPr>
          <a:xfrm>
            <a:off x="514364" y="2948940"/>
            <a:ext cx="3874873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3"/>
          <p:cNvSpPr/>
          <p:nvPr/>
        </p:nvSpPr>
        <p:spPr>
          <a:xfrm>
            <a:off x="514364" y="3113532"/>
            <a:ext cx="288044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898422" y="3058668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前端 / 後端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126037" y="3058668"/>
            <a:ext cx="21603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前端、後端、皆有、不確定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23"/>
          <p:cNvCxnSpPr/>
          <p:nvPr/>
        </p:nvCxnSpPr>
        <p:spPr>
          <a:xfrm>
            <a:off x="514364" y="3401568"/>
            <a:ext cx="3874873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23"/>
          <p:cNvSpPr/>
          <p:nvPr/>
        </p:nvSpPr>
        <p:spPr>
          <a:xfrm>
            <a:off x="4697839" y="1289298"/>
            <a:ext cx="288000" cy="233100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081897" y="1234434"/>
            <a:ext cx="102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功能模塊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309512" y="1234434"/>
            <a:ext cx="2160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SYS / WEB / MAT / SysCore 等 Tag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23"/>
          <p:cNvCxnSpPr/>
          <p:nvPr/>
        </p:nvCxnSpPr>
        <p:spPr>
          <a:xfrm>
            <a:off x="4697839" y="1585159"/>
            <a:ext cx="38748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23"/>
          <p:cNvSpPr/>
          <p:nvPr/>
        </p:nvSpPr>
        <p:spPr>
          <a:xfrm>
            <a:off x="4697855" y="973836"/>
            <a:ext cx="685818" cy="192024"/>
          </a:xfrm>
          <a:prstGeom prst="rect">
            <a:avLst/>
          </a:prstGeom>
          <a:solidFill>
            <a:srgbClr val="8B5CF6"/>
          </a:solidFill>
          <a:ln cap="flat" cmpd="sng" w="9525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RD / QA 後續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4697855" y="1714445"/>
            <a:ext cx="288000" cy="233100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081913" y="1659581"/>
            <a:ext cx="102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影響範圍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309528" y="1659581"/>
            <a:ext cx="2160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延伸功能與共用邏輯依據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23"/>
          <p:cNvCxnSpPr/>
          <p:nvPr/>
        </p:nvCxnSpPr>
        <p:spPr>
          <a:xfrm>
            <a:off x="4697855" y="2002481"/>
            <a:ext cx="38748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3"/>
          <p:cNvSpPr/>
          <p:nvPr/>
        </p:nvSpPr>
        <p:spPr>
          <a:xfrm>
            <a:off x="4697855" y="2167073"/>
            <a:ext cx="288000" cy="233100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081913" y="2112209"/>
            <a:ext cx="102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檢測可行性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309528" y="2112209"/>
            <a:ext cx="2160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完全、部分、需人工實機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23"/>
          <p:cNvCxnSpPr/>
          <p:nvPr/>
        </p:nvCxnSpPr>
        <p:spPr>
          <a:xfrm>
            <a:off x="4697855" y="2455109"/>
            <a:ext cx="38748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23"/>
          <p:cNvSpPr/>
          <p:nvPr/>
        </p:nvSpPr>
        <p:spPr>
          <a:xfrm>
            <a:off x="4697855" y="2619701"/>
            <a:ext cx="288000" cy="233100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081913" y="2564837"/>
            <a:ext cx="102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對應 PR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309528" y="2564837"/>
            <a:ext cx="2160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 編號或連結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23"/>
          <p:cNvCxnSpPr/>
          <p:nvPr/>
        </p:nvCxnSpPr>
        <p:spPr>
          <a:xfrm>
            <a:off x="4697855" y="2907737"/>
            <a:ext cx="38748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23"/>
          <p:cNvSpPr/>
          <p:nvPr/>
        </p:nvSpPr>
        <p:spPr>
          <a:xfrm>
            <a:off x="4697855" y="3072329"/>
            <a:ext cx="288000" cy="233100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081913" y="3017465"/>
            <a:ext cx="102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RD 回覆說明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6309528" y="3017465"/>
            <a:ext cx="2160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根源、修改內容、優點、注意事項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4697855" y="3360365"/>
            <a:ext cx="38748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3"/>
          <p:cNvSpPr/>
          <p:nvPr/>
        </p:nvSpPr>
        <p:spPr>
          <a:xfrm>
            <a:off x="4697855" y="3524957"/>
            <a:ext cx="288000" cy="233100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081913" y="3470093"/>
            <a:ext cx="102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QA 複驗結果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309528" y="3470093"/>
            <a:ext cx="2160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通過、未通過、部分通過等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23"/>
          <p:cNvCxnSpPr/>
          <p:nvPr/>
        </p:nvCxnSpPr>
        <p:spPr>
          <a:xfrm>
            <a:off x="4697855" y="3812993"/>
            <a:ext cx="38748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23"/>
          <p:cNvSpPr/>
          <p:nvPr/>
        </p:nvSpPr>
        <p:spPr>
          <a:xfrm>
            <a:off x="685818" y="4238244"/>
            <a:ext cx="7681165" cy="26060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Arial"/>
              <a:buNone/>
            </a:pPr>
            <a:r>
              <a:rPr b="1" i="0" lang="zh-TW" sz="10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欄位策略：不拆太細，避免重複填寫；把「影響範圍」與「AI 可行性」作為 AI 後續解析的關鍵欄位。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8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欄位責任對標：誰在什麼時候補資料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24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24"/>
          <p:cNvSpPr/>
          <p:nvPr/>
        </p:nvSpPr>
        <p:spPr>
          <a:xfrm>
            <a:off x="514364" y="1062990"/>
            <a:ext cx="41149" cy="216027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596662" y="1062990"/>
            <a:ext cx="1735120" cy="21602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QA 開單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測項類型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標題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內容與步驟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功能模塊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前/後端可填不確定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24"/>
          <p:cNvCxnSpPr/>
          <p:nvPr/>
        </p:nvCxnSpPr>
        <p:spPr>
          <a:xfrm>
            <a:off x="2331782" y="2098548"/>
            <a:ext cx="308618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24"/>
          <p:cNvSpPr/>
          <p:nvPr/>
        </p:nvSpPr>
        <p:spPr>
          <a:xfrm>
            <a:off x="2640400" y="1062990"/>
            <a:ext cx="41149" cy="216027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2722699" y="1062990"/>
            <a:ext cx="1735120" cy="21602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初檢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查重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檢查是否有既有回歸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提醒欄位不足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協助整理描述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24"/>
          <p:cNvCxnSpPr/>
          <p:nvPr/>
        </p:nvCxnSpPr>
        <p:spPr>
          <a:xfrm>
            <a:off x="4457819" y="2098548"/>
            <a:ext cx="308618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" name="Google Shape;276;p24"/>
          <p:cNvSpPr/>
          <p:nvPr/>
        </p:nvSpPr>
        <p:spPr>
          <a:xfrm>
            <a:off x="4766437" y="1062990"/>
            <a:ext cx="41149" cy="216027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4848735" y="1062990"/>
            <a:ext cx="1735120" cy="21602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RD 修正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前/後端補正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影響範圍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 檢測可行性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對應 PR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RD 回覆說明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24"/>
          <p:cNvCxnSpPr/>
          <p:nvPr/>
        </p:nvCxnSpPr>
        <p:spPr>
          <a:xfrm>
            <a:off x="6583856" y="2098548"/>
            <a:ext cx="308618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p24"/>
          <p:cNvSpPr/>
          <p:nvPr/>
        </p:nvSpPr>
        <p:spPr>
          <a:xfrm>
            <a:off x="6892474" y="1062990"/>
            <a:ext cx="41149" cy="216027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6974772" y="1062990"/>
            <a:ext cx="1735120" cy="21602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QA 複驗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依原步驟複驗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通過 / 退回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補新的實際結果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必要時附影片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720109" y="3943350"/>
            <a:ext cx="7681165" cy="329184"/>
          </a:xfrm>
          <a:prstGeom prst="rect">
            <a:avLst/>
          </a:prstGeom>
          <a:solidFill>
            <a:srgbClr val="EEF2FF"/>
          </a:solidFill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關單後：AI 讀 Issue + PR + diff + QA 複驗結果，產出最終總結並確認測項歸納。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9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RD 回覆說明：四個欄位，避免與影響範圍重複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25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25"/>
          <p:cNvSpPr/>
          <p:nvPr/>
        </p:nvSpPr>
        <p:spPr>
          <a:xfrm>
            <a:off x="548655" y="1097280"/>
            <a:ext cx="651527" cy="233172"/>
          </a:xfrm>
          <a:prstGeom prst="rect">
            <a:avLst/>
          </a:prstGeom>
          <a:solidFill>
            <a:srgbClr val="EF4444"/>
          </a:solidFill>
          <a:ln cap="flat" cmpd="sng" w="9525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必填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1371637" y="1062990"/>
            <a:ext cx="16459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問題根源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3154764" y="1062990"/>
            <a:ext cx="50750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說明為什麼發生：資料流、API、欄位對應、權限、SSR cache 等。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25"/>
          <p:cNvCxnSpPr/>
          <p:nvPr/>
        </p:nvCxnSpPr>
        <p:spPr>
          <a:xfrm>
            <a:off x="548655" y="1447038"/>
            <a:ext cx="7955492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25"/>
          <p:cNvSpPr/>
          <p:nvPr/>
        </p:nvSpPr>
        <p:spPr>
          <a:xfrm>
            <a:off x="548655" y="1885950"/>
            <a:ext cx="651527" cy="233172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必填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1371637" y="1851660"/>
            <a:ext cx="16459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修改內容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3154764" y="1851660"/>
            <a:ext cx="50750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說明實際修正或調整了什麼，避免只寫 fix bug。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25"/>
          <p:cNvCxnSpPr/>
          <p:nvPr/>
        </p:nvCxnSpPr>
        <p:spPr>
          <a:xfrm>
            <a:off x="548655" y="2235708"/>
            <a:ext cx="7955492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25"/>
          <p:cNvSpPr/>
          <p:nvPr/>
        </p:nvSpPr>
        <p:spPr>
          <a:xfrm>
            <a:off x="548655" y="2674620"/>
            <a:ext cx="651527" cy="233172"/>
          </a:xfrm>
          <a:prstGeom prst="rect">
            <a:avLst/>
          </a:prstGeom>
          <a:solidFill>
            <a:srgbClr val="22C55E"/>
          </a:solidFill>
          <a:ln cap="flat" cmpd="sng" w="9525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非必填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1371637" y="2640330"/>
            <a:ext cx="16459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修改後的優點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3154764" y="2640330"/>
            <a:ext cx="50750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給非開發人員看的改善說明，可由 AI 協助潤飾。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25"/>
          <p:cNvCxnSpPr/>
          <p:nvPr/>
        </p:nvCxnSpPr>
        <p:spPr>
          <a:xfrm>
            <a:off x="548655" y="3024378"/>
            <a:ext cx="7955492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25"/>
          <p:cNvSpPr/>
          <p:nvPr/>
        </p:nvSpPr>
        <p:spPr>
          <a:xfrm>
            <a:off x="548655" y="3463290"/>
            <a:ext cx="651527" cy="233172"/>
          </a:xfrm>
          <a:prstGeom prst="rect">
            <a:avLst/>
          </a:prstGeom>
          <a:solidFill>
            <a:srgbClr val="F59E0B"/>
          </a:solidFill>
          <a:ln cap="flat" cmpd="sng" w="9525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視情況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1371637" y="3429000"/>
            <a:ext cx="16459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後續注意事項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3154764" y="3429000"/>
            <a:ext cx="50750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記錄容易再犯、共用邏輯、未來維護時需要注意的點。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25"/>
          <p:cNvCxnSpPr/>
          <p:nvPr/>
        </p:nvCxnSpPr>
        <p:spPr>
          <a:xfrm>
            <a:off x="548655" y="3813048"/>
            <a:ext cx="7955492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25"/>
          <p:cNvSpPr/>
          <p:nvPr/>
        </p:nvSpPr>
        <p:spPr>
          <a:xfrm>
            <a:off x="925855" y="4217670"/>
            <a:ext cx="7201092" cy="246888"/>
          </a:xfrm>
          <a:prstGeom prst="rect">
            <a:avLst/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Arial"/>
              <a:buNone/>
            </a:pPr>
            <a:r>
              <a:rPr b="1" i="0" lang="zh-TW" sz="10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影響範圍已是獨立欄位；RD 回覆只補根因與修正脈絡。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複驗與關單：失敗退單，成功才做 AI 總結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26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26"/>
          <p:cNvSpPr/>
          <p:nvPr/>
        </p:nvSpPr>
        <p:spPr>
          <a:xfrm>
            <a:off x="582946" y="1371600"/>
            <a:ext cx="1200182" cy="603504"/>
          </a:xfrm>
          <a:prstGeom prst="rect">
            <a:avLst/>
          </a:prstGeom>
          <a:solidFill>
            <a:srgbClr val="F59E0B"/>
          </a:solidFill>
          <a:ln cap="flat" cmpd="sng" w="9525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 複驗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依原步驟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26"/>
          <p:cNvCxnSpPr/>
          <p:nvPr/>
        </p:nvCxnSpPr>
        <p:spPr>
          <a:xfrm flipH="1" rot="10800000">
            <a:off x="1783128" y="1200150"/>
            <a:ext cx="960146" cy="473202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26"/>
          <p:cNvCxnSpPr/>
          <p:nvPr/>
        </p:nvCxnSpPr>
        <p:spPr>
          <a:xfrm>
            <a:off x="1783128" y="1673352"/>
            <a:ext cx="960146" cy="54864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p26"/>
          <p:cNvSpPr/>
          <p:nvPr/>
        </p:nvSpPr>
        <p:spPr>
          <a:xfrm>
            <a:off x="2743273" y="891540"/>
            <a:ext cx="1200182" cy="603504"/>
          </a:xfrm>
          <a:prstGeom prst="rect">
            <a:avLst/>
          </a:prstGeom>
          <a:solidFill>
            <a:srgbClr val="EF4444"/>
          </a:solidFill>
          <a:ln cap="flat" cmpd="sng" w="9525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未通過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退單補結果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2743273" y="1906524"/>
            <a:ext cx="1200182" cy="603504"/>
          </a:xfrm>
          <a:prstGeom prst="rect">
            <a:avLst/>
          </a:prstGeom>
          <a:solidFill>
            <a:srgbClr val="22C55E"/>
          </a:solidFill>
          <a:ln cap="flat" cmpd="sng" w="9525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通過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準備關單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26"/>
          <p:cNvCxnSpPr/>
          <p:nvPr/>
        </p:nvCxnSpPr>
        <p:spPr>
          <a:xfrm>
            <a:off x="3943455" y="2208276"/>
            <a:ext cx="960146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p26"/>
          <p:cNvSpPr/>
          <p:nvPr/>
        </p:nvSpPr>
        <p:spPr>
          <a:xfrm>
            <a:off x="4903601" y="1906524"/>
            <a:ext cx="1371637" cy="603504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總結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Issue + PR + Diff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p26"/>
          <p:cNvCxnSpPr/>
          <p:nvPr/>
        </p:nvCxnSpPr>
        <p:spPr>
          <a:xfrm>
            <a:off x="6275237" y="2208276"/>
            <a:ext cx="822982" cy="0"/>
          </a:xfrm>
          <a:prstGeom prst="straightConnector1">
            <a:avLst/>
          </a:prstGeom>
          <a:noFill/>
          <a:ln cap="flat" cmpd="sng" w="1777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" name="Google Shape;325;p26"/>
          <p:cNvSpPr/>
          <p:nvPr/>
        </p:nvSpPr>
        <p:spPr>
          <a:xfrm>
            <a:off x="7098219" y="1906524"/>
            <a:ext cx="1371637" cy="60350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" lIns="650" spcFirstLastPara="1" rIns="650" wrap="square" tIns="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測項沉澱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回歸 / 專項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651527" y="3257550"/>
            <a:ext cx="41149" cy="72009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733826" y="3257550"/>
            <a:ext cx="2283775" cy="7200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退單時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補新的實際結果與附件，不覆蓋原 Issue 內容。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3360510" y="3257550"/>
            <a:ext cx="41149" cy="72009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3442808" y="3257550"/>
            <a:ext cx="2283775" cy="7200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關單前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確認 QA 複驗結果已留在 Issue，且 PR 已關聯。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6069492" y="3257550"/>
            <a:ext cx="41149" cy="72009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6151790" y="3257550"/>
            <a:ext cx="2283775" cy="7200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關單後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 產生總結，重新確認測項分類與回歸處理。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11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356626" y="192024"/>
            <a:ext cx="27432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WCMS QA / RD / AI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356626" y="384048"/>
            <a:ext cx="67210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第一階段執行：先跑三個主要缺失模組，驗證流程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27"/>
          <p:cNvCxnSpPr/>
          <p:nvPr/>
        </p:nvCxnSpPr>
        <p:spPr>
          <a:xfrm>
            <a:off x="356626" y="836676"/>
            <a:ext cx="840127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27"/>
          <p:cNvSpPr/>
          <p:nvPr/>
        </p:nvSpPr>
        <p:spPr>
          <a:xfrm>
            <a:off x="582946" y="1062990"/>
            <a:ext cx="41149" cy="87782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7"/>
          <p:cNvSpPr/>
          <p:nvPr/>
        </p:nvSpPr>
        <p:spPr>
          <a:xfrm>
            <a:off x="665244" y="1062990"/>
            <a:ext cx="2283775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① 預覽功能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後台表單預覽、清單預覽、前台預覽模式與離開提示。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3374226" y="1062990"/>
            <a:ext cx="41149" cy="87782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7"/>
          <p:cNvSpPr/>
          <p:nvPr/>
        </p:nvSpPr>
        <p:spPr>
          <a:xfrm>
            <a:off x="3456524" y="1062990"/>
            <a:ext cx="2283775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② 更新紀錄 / 流量分析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後台頁面資料來源、顯示方式、權限與前後台一致性。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6158648" y="1062990"/>
            <a:ext cx="41149" cy="87782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>
            <a:off x="6240946" y="1062990"/>
            <a:ext cx="2283775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③ 回上一頁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前台返回邏輯、grid 狀態、直接進入頁面的 fallback。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617236" y="2455164"/>
            <a:ext cx="3429091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Arial"/>
              <a:buNone/>
            </a:pPr>
            <a:r>
              <a:rPr b="1" i="0" lang="zh-TW" sz="13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v0.1 需要補的規範，不是新增欄位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720109" y="2839212"/>
            <a:ext cx="246895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1063018" y="2811780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Issue Template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2503237" y="2811780"/>
            <a:ext cx="19545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固定 11 欄，避免漏資料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4766437" y="2839212"/>
            <a:ext cx="246895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5109346" y="2811780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PR Template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6549565" y="2811780"/>
            <a:ext cx="19545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固定 RD 回覆四細項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720109" y="3483864"/>
            <a:ext cx="246895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1063018" y="3456432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Label 命名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2503237" y="3456432"/>
            <a:ext cx="19545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測項類型、前後端、功能模塊、AI 可行性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4766437" y="3483864"/>
            <a:ext cx="246895" cy="233172"/>
          </a:xfrm>
          <a:prstGeom prst="rect">
            <a:avLst/>
          </a:prstGeom>
          <a:solidFill>
            <a:srgbClr val="112E51"/>
          </a:solidFill>
          <a:ln cap="flat" cmpd="sng" w="9525">
            <a:solidFill>
              <a:srgbClr val="112E5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zh-TW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5109346" y="3456432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AI Summary Template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6549565" y="3456432"/>
            <a:ext cx="19545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關單後固定產出總結與測項歸納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651527" y="4375404"/>
            <a:ext cx="7818328" cy="260604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Arial"/>
              <a:buNone/>
            </a:pPr>
            <a:r>
              <a:rPr b="1" i="0" lang="zh-TW" sz="10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結論：目前三個重點已足夠作為第一版；只需補齊模板與 Label，先讓流程跑起來。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8024074" y="4896612"/>
            <a:ext cx="754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v0.1  |  12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